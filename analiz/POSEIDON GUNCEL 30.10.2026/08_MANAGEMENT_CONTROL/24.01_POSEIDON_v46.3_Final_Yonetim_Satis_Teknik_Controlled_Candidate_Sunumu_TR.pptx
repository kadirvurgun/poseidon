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04443f235b42e7" /><Relationship Type="http://schemas.openxmlformats.org/officeDocument/2006/relationships/extended-properties" Target="/docProps/app.xml" Id="Rb3d4ea56d3204049" /><Relationship Type="http://schemas.openxmlformats.org/officeDocument/2006/relationships/officeDocument" Target="/ppt/presentation.xml" Id="Rccbf29e67aab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fec51d6ac74217"/>
  </p:sldMasterIdLst>
  <p:notesMasterIdLst>
    <p:notesMasterId xmlns:r="http://schemas.openxmlformats.org/officeDocument/2006/relationships" r:id="Rb06986948b6d438a"/>
  </p:notesMasterIdLst>
  <p:sldIdLst>
    <p:sldId xmlns:r="http://schemas.openxmlformats.org/officeDocument/2006/relationships" id="256" r:id="R79618e0fa60a4c7e"/>
    <p:sldId xmlns:r="http://schemas.openxmlformats.org/officeDocument/2006/relationships" id="257" r:id="R05dd20bcb7374932"/>
    <p:sldId xmlns:r="http://schemas.openxmlformats.org/officeDocument/2006/relationships" id="258" r:id="R12f9ff70f0fd402f"/>
    <p:sldId xmlns:r="http://schemas.openxmlformats.org/officeDocument/2006/relationships" id="259" r:id="R4d2a87249cf443b4"/>
    <p:sldId xmlns:r="http://schemas.openxmlformats.org/officeDocument/2006/relationships" id="260" r:id="R4faa5e99d9ca4eb0"/>
    <p:sldId xmlns:r="http://schemas.openxmlformats.org/officeDocument/2006/relationships" id="261" r:id="R6d92a8a2a5ec4989"/>
    <p:sldId xmlns:r="http://schemas.openxmlformats.org/officeDocument/2006/relationships" id="262" r:id="Re36d66a94547415f"/>
    <p:sldId xmlns:r="http://schemas.openxmlformats.org/officeDocument/2006/relationships" id="263" r:id="R2ab73e910abf485d"/>
    <p:sldId xmlns:r="http://schemas.openxmlformats.org/officeDocument/2006/relationships" id="264" r:id="R7e0ad23083bd4457"/>
    <p:sldId xmlns:r="http://schemas.openxmlformats.org/officeDocument/2006/relationships" id="265" r:id="R2d2492c1ec0b49d2"/>
    <p:sldId xmlns:r="http://schemas.openxmlformats.org/officeDocument/2006/relationships" id="266" r:id="Ra036a0c25a3647c6"/>
    <p:sldId xmlns:r="http://schemas.openxmlformats.org/officeDocument/2006/relationships" id="267" r:id="R6a508d0defc8443f"/>
    <p:sldId xmlns:r="http://schemas.openxmlformats.org/officeDocument/2006/relationships" id="268" r:id="R30ded1dcdb564fad"/>
    <p:sldId xmlns:r="http://schemas.openxmlformats.org/officeDocument/2006/relationships" id="269" r:id="Rd286af8d3dc4483a"/>
    <p:sldId xmlns:r="http://schemas.openxmlformats.org/officeDocument/2006/relationships" id="270" r:id="Re0408d90194d45b7"/>
    <p:sldId xmlns:r="http://schemas.openxmlformats.org/officeDocument/2006/relationships" id="271" r:id="Re8711fde74054287"/>
    <p:sldId xmlns:r="http://schemas.openxmlformats.org/officeDocument/2006/relationships" id="272" r:id="R19d68d5ae1f64be9"/>
    <p:sldId xmlns:r="http://schemas.openxmlformats.org/officeDocument/2006/relationships" id="273" r:id="R26824f41f4fe4d5f"/>
    <p:sldId xmlns:r="http://schemas.openxmlformats.org/officeDocument/2006/relationships" id="274" r:id="R0ab9ef8bffb7454d"/>
    <p:sldId xmlns:r="http://schemas.openxmlformats.org/officeDocument/2006/relationships" id="275" r:id="Rb78b55ac44a742ef"/>
    <p:sldId xmlns:r="http://schemas.openxmlformats.org/officeDocument/2006/relationships" id="276" r:id="Rb8b0449776304676"/>
    <p:sldId xmlns:r="http://schemas.openxmlformats.org/officeDocument/2006/relationships" id="277" r:id="R102561909212424b"/>
    <p:sldId xmlns:r="http://schemas.openxmlformats.org/officeDocument/2006/relationships" id="278" r:id="R6a3db53b64de48e5"/>
    <p:sldId xmlns:r="http://schemas.openxmlformats.org/officeDocument/2006/relationships" id="279" r:id="Ra5414f74560e4867"/>
    <p:sldId xmlns:r="http://schemas.openxmlformats.org/officeDocument/2006/relationships" id="280" r:id="Ra17fda62e3ed413e"/>
    <p:sldId xmlns:r="http://schemas.openxmlformats.org/officeDocument/2006/relationships" id="281" r:id="R73fb653738b8478a"/>
    <p:sldId xmlns:r="http://schemas.openxmlformats.org/officeDocument/2006/relationships" id="282" r:id="Rdfca6a34275f469a"/>
    <p:sldId xmlns:r="http://schemas.openxmlformats.org/officeDocument/2006/relationships" id="283" r:id="R8671c8f3ce5b4b44"/>
    <p:sldId xmlns:r="http://schemas.openxmlformats.org/officeDocument/2006/relationships" id="284" r:id="R1e3ed7dd7295435c"/>
    <p:sldId xmlns:r="http://schemas.openxmlformats.org/officeDocument/2006/relationships" id="285" r:id="R34a1751ba134483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361e221f154e8c" /><Relationship Type="http://schemas.openxmlformats.org/officeDocument/2006/relationships/slideMaster" Target="/ppt/slideMasters/slideMaster1.xml" Id="R2bfec51d6ac74217" /><Relationship Type="http://schemas.openxmlformats.org/officeDocument/2006/relationships/notesMaster" Target="/ppt/notesMasters/notesMaster1.xml" Id="Rb06986948b6d438a" /><Relationship Type="http://schemas.openxmlformats.org/officeDocument/2006/relationships/presProps" Target="/ppt/presProps.xml" Id="R3cab41731ddc432c" /><Relationship Type="http://schemas.openxmlformats.org/officeDocument/2006/relationships/viewProps" Target="/ppt/viewProps.xml" Id="R125de19f7f38407b" /><Relationship Type="http://schemas.openxmlformats.org/officeDocument/2006/relationships/tableStyles" Target="/ppt/tableStyles.xml" Id="Rfb1bdb4cd67547bf" /><Relationship Type="http://schemas.openxmlformats.org/officeDocument/2006/relationships/slide" Target="/ppt/slides/slide1.xml" Id="R79618e0fa60a4c7e" /><Relationship Type="http://schemas.openxmlformats.org/officeDocument/2006/relationships/slide" Target="/ppt/slides/slide2.xml" Id="R05dd20bcb7374932" /><Relationship Type="http://schemas.openxmlformats.org/officeDocument/2006/relationships/slide" Target="/ppt/slides/slide3.xml" Id="R12f9ff70f0fd402f" /><Relationship Type="http://schemas.openxmlformats.org/officeDocument/2006/relationships/slide" Target="/ppt/slides/slide4.xml" Id="R4d2a87249cf443b4" /><Relationship Type="http://schemas.openxmlformats.org/officeDocument/2006/relationships/slide" Target="/ppt/slides/slide5.xml" Id="R4faa5e99d9ca4eb0" /><Relationship Type="http://schemas.openxmlformats.org/officeDocument/2006/relationships/slide" Target="/ppt/slides/slide6.xml" Id="R6d92a8a2a5ec4989" /><Relationship Type="http://schemas.openxmlformats.org/officeDocument/2006/relationships/slide" Target="/ppt/slides/slide7.xml" Id="Re36d66a94547415f" /><Relationship Type="http://schemas.openxmlformats.org/officeDocument/2006/relationships/slide" Target="/ppt/slides/slide8.xml" Id="R2ab73e910abf485d" /><Relationship Type="http://schemas.openxmlformats.org/officeDocument/2006/relationships/slide" Target="/ppt/slides/slide9.xml" Id="R7e0ad23083bd4457" /><Relationship Type="http://schemas.openxmlformats.org/officeDocument/2006/relationships/slide" Target="/ppt/slides/slide10.xml" Id="R2d2492c1ec0b49d2" /><Relationship Type="http://schemas.openxmlformats.org/officeDocument/2006/relationships/slide" Target="/ppt/slides/slide11.xml" Id="Ra036a0c25a3647c6" /><Relationship Type="http://schemas.openxmlformats.org/officeDocument/2006/relationships/slide" Target="/ppt/slides/slide12.xml" Id="R6a508d0defc8443f" /><Relationship Type="http://schemas.openxmlformats.org/officeDocument/2006/relationships/slide" Target="/ppt/slides/slide13.xml" Id="R30ded1dcdb564fad" /><Relationship Type="http://schemas.openxmlformats.org/officeDocument/2006/relationships/slide" Target="/ppt/slides/slide14.xml" Id="Rd286af8d3dc4483a" /><Relationship Type="http://schemas.openxmlformats.org/officeDocument/2006/relationships/slide" Target="/ppt/slides/slide15.xml" Id="Re0408d90194d45b7" /><Relationship Type="http://schemas.openxmlformats.org/officeDocument/2006/relationships/slide" Target="/ppt/slides/slide16.xml" Id="Re8711fde74054287" /><Relationship Type="http://schemas.openxmlformats.org/officeDocument/2006/relationships/slide" Target="/ppt/slides/slide17.xml" Id="R19d68d5ae1f64be9" /><Relationship Type="http://schemas.openxmlformats.org/officeDocument/2006/relationships/slide" Target="/ppt/slides/slide18.xml" Id="R26824f41f4fe4d5f" /><Relationship Type="http://schemas.openxmlformats.org/officeDocument/2006/relationships/slide" Target="/ppt/slides/slide19.xml" Id="R0ab9ef8bffb7454d" /><Relationship Type="http://schemas.openxmlformats.org/officeDocument/2006/relationships/slide" Target="/ppt/slides/slide20.xml" Id="Rb78b55ac44a742ef" /><Relationship Type="http://schemas.openxmlformats.org/officeDocument/2006/relationships/slide" Target="/ppt/slides/slide21.xml" Id="Rb8b0449776304676" /><Relationship Type="http://schemas.openxmlformats.org/officeDocument/2006/relationships/slide" Target="/ppt/slides/slide22.xml" Id="R102561909212424b" /><Relationship Type="http://schemas.openxmlformats.org/officeDocument/2006/relationships/slide" Target="/ppt/slides/slide23.xml" Id="R6a3db53b64de48e5" /><Relationship Type="http://schemas.openxmlformats.org/officeDocument/2006/relationships/slide" Target="/ppt/slides/slide24.xml" Id="Ra5414f74560e4867" /><Relationship Type="http://schemas.openxmlformats.org/officeDocument/2006/relationships/slide" Target="/ppt/slides/slide25.xml" Id="Ra17fda62e3ed413e" /><Relationship Type="http://schemas.openxmlformats.org/officeDocument/2006/relationships/slide" Target="/ppt/slides/slide26.xml" Id="R73fb653738b8478a" /><Relationship Type="http://schemas.openxmlformats.org/officeDocument/2006/relationships/slide" Target="/ppt/slides/slide27.xml" Id="Rdfca6a34275f469a" /><Relationship Type="http://schemas.openxmlformats.org/officeDocument/2006/relationships/slide" Target="/ppt/slides/slide28.xml" Id="R8671c8f3ce5b4b44" /><Relationship Type="http://schemas.openxmlformats.org/officeDocument/2006/relationships/slide" Target="/ppt/slides/slide29.xml" Id="R1e3ed7dd7295435c" /><Relationship Type="http://schemas.openxmlformats.org/officeDocument/2006/relationships/slide" Target="/ppt/slides/slide30.xml" Id="R34a1751ba13448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b302d7b1642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f49cf6ee4a48f2" /><Relationship Type="http://schemas.openxmlformats.org/officeDocument/2006/relationships/notesMaster" Target="/ppt/notesMasters/notesMaster1.xml" Id="R1a87160cbfdb40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65091142a43bd" /><Relationship Type="http://schemas.openxmlformats.org/officeDocument/2006/relationships/notesMaster" Target="/ppt/notesMasters/notesMaster1.xml" Id="R9f4fe85a38d64b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42d9044b754411" /><Relationship Type="http://schemas.openxmlformats.org/officeDocument/2006/relationships/notesMaster" Target="/ppt/notesMasters/notesMaster1.xml" Id="R26f97730655e4d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be060170ad4cb7" /><Relationship Type="http://schemas.openxmlformats.org/officeDocument/2006/relationships/notesMaster" Target="/ppt/notesMasters/notesMaster1.xml" Id="Rc2a13392f0e0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b14e49b4341f6" /><Relationship Type="http://schemas.openxmlformats.org/officeDocument/2006/relationships/notesMaster" Target="/ppt/notesMasters/notesMaster1.xml" Id="R7fd5632a5c3d47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13b6cc26f74290" /><Relationship Type="http://schemas.openxmlformats.org/officeDocument/2006/relationships/notesMaster" Target="/ppt/notesMasters/notesMaster1.xml" Id="Re946a598452940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1774e759514e78" /><Relationship Type="http://schemas.openxmlformats.org/officeDocument/2006/relationships/notesMaster" Target="/ppt/notesMasters/notesMaster1.xml" Id="Rdcc33adb60c344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77fb9c49464fb7" /><Relationship Type="http://schemas.openxmlformats.org/officeDocument/2006/relationships/notesMaster" Target="/ppt/notesMasters/notesMaster1.xml" Id="R79c73a28d6a94b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48463ed73d41f5" /><Relationship Type="http://schemas.openxmlformats.org/officeDocument/2006/relationships/notesMaster" Target="/ppt/notesMasters/notesMaster1.xml" Id="R3c1bdc28e27b44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1846d9a164d46" /><Relationship Type="http://schemas.openxmlformats.org/officeDocument/2006/relationships/notesMaster" Target="/ppt/notesMasters/notesMaster1.xml" Id="Rebbbb758208d4d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da9b94cd9d4b29" /><Relationship Type="http://schemas.openxmlformats.org/officeDocument/2006/relationships/notesMaster" Target="/ppt/notesMasters/notesMaster1.xml" Id="Rb618c9f161524b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4e1c3acf8e42fb" /><Relationship Type="http://schemas.openxmlformats.org/officeDocument/2006/relationships/notesMaster" Target="/ppt/notesMasters/notesMaster1.xml" Id="R5057c1a8df424a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7296914bbb42fd" /><Relationship Type="http://schemas.openxmlformats.org/officeDocument/2006/relationships/notesMaster" Target="/ppt/notesMasters/notesMaster1.xml" Id="Rba3e512d017a4e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fd47a341f14bb5" /><Relationship Type="http://schemas.openxmlformats.org/officeDocument/2006/relationships/notesMaster" Target="/ppt/notesMasters/notesMaster1.xml" Id="R844b2ee0eed94b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778bafe3534b48" /><Relationship Type="http://schemas.openxmlformats.org/officeDocument/2006/relationships/notesMaster" Target="/ppt/notesMasters/notesMaster1.xml" Id="R64a8ca40b0b54f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633866c2ff4f11" /><Relationship Type="http://schemas.openxmlformats.org/officeDocument/2006/relationships/notesMaster" Target="/ppt/notesMasters/notesMaster1.xml" Id="R122834a042834e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5cb5849ba54085" /><Relationship Type="http://schemas.openxmlformats.org/officeDocument/2006/relationships/notesMaster" Target="/ppt/notesMasters/notesMaster1.xml" Id="Ra4812a8111d144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fd0b70b8bc4833" /><Relationship Type="http://schemas.openxmlformats.org/officeDocument/2006/relationships/notesMaster" Target="/ppt/notesMasters/notesMaster1.xml" Id="Rbe7630daaea344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2bd32e2cd94ab5" /><Relationship Type="http://schemas.openxmlformats.org/officeDocument/2006/relationships/notesMaster" Target="/ppt/notesMasters/notesMaster1.xml" Id="R59c492ecfb9c4a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92f31693a745ac" /><Relationship Type="http://schemas.openxmlformats.org/officeDocument/2006/relationships/notesMaster" Target="/ppt/notesMasters/notesMaster1.xml" Id="R8eccfe01db014f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52a5cacd1d4134" /><Relationship Type="http://schemas.openxmlformats.org/officeDocument/2006/relationships/notesMaster" Target="/ppt/notesMasters/notesMaster1.xml" Id="R2ea122d8b43c4c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9282c331844d88" /><Relationship Type="http://schemas.openxmlformats.org/officeDocument/2006/relationships/notesMaster" Target="/ppt/notesMasters/notesMaster1.xml" Id="R24057a3bc5154d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b2cb3b029d54e7a" /><Relationship Type="http://schemas.openxmlformats.org/officeDocument/2006/relationships/notesMaster" Target="/ppt/notesMasters/notesMaster1.xml" Id="R5f0097771d094a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924e397b74e426f" /><Relationship Type="http://schemas.openxmlformats.org/officeDocument/2006/relationships/notesMaster" Target="/ppt/notesMasters/notesMaster1.xml" Id="R0853a7c4c19c42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0b14e007a94514" /><Relationship Type="http://schemas.openxmlformats.org/officeDocument/2006/relationships/notesMaster" Target="/ppt/notesMasters/notesMaster1.xml" Id="R89d491a81cfb47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bdee612831f4ea2" /><Relationship Type="http://schemas.openxmlformats.org/officeDocument/2006/relationships/notesMaster" Target="/ppt/notesMasters/notesMaster1.xml" Id="Rf2ccce610d0d47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6308ea49caf405f" /><Relationship Type="http://schemas.openxmlformats.org/officeDocument/2006/relationships/notesMaster" Target="/ppt/notesMasters/notesMaster1.xml" Id="Rcb023ca392d94f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f353e563614ffa" /><Relationship Type="http://schemas.openxmlformats.org/officeDocument/2006/relationships/notesMaster" Target="/ppt/notesMasters/notesMaster1.xml" Id="R1399b32f3e544ee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16751889444bd3" /><Relationship Type="http://schemas.openxmlformats.org/officeDocument/2006/relationships/notesMaster" Target="/ppt/notesMasters/notesMaster1.xml" Id="Rd5f81951efd94cc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985ff81f4942e4" /><Relationship Type="http://schemas.openxmlformats.org/officeDocument/2006/relationships/notesMaster" Target="/ppt/notesMasters/notesMaster1.xml" Id="Re8f099b1e69e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5c41948c744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ce1cd18a048d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POSEIDON">
    <p:bg>
      <p:bgPr>
        <a:solidFill xmlns:a="http://schemas.openxmlformats.org/drawingml/2006/main">
          <a:srgbClr val="07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D3C39-0FE6-46FB-AAC7-24E3F305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2011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CB9D5"/>
                </a:solidFill>
                <a:latin typeface="Aptos"/>
                <a:ea typeface="Aptos"/>
                <a:cs typeface="Aptos"/>
              </a:rPr>
              <a:t>POSEIDON v46.3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BE3488-C922-43CD-82B3-B1A03D68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4592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FA1"/>
                </a:solidFill>
                <a:latin typeface="Aptos"/>
                <a:ea typeface="Aptos"/>
                <a:cs typeface="Aptos"/>
              </a:rPr>
              <a:t>GEMİ + RÖMORKÖR</a:t>
            </a:r>
            <a:endParaRPr sz="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6ABF84F-1919-4809-9727-4A545F4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29768"/>
            <a:ext cx="11548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534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B67D396-9604-4287-ACC4-37380DC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65392"/>
            <a:ext cx="2926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64798A"/>
                </a:solidFill>
                <a:latin typeface="Aptos"/>
                <a:ea typeface="Aptos"/>
                <a:cs typeface="Aptos"/>
              </a:rPr>
              <a:t>Controlled Candidate • 5 Ekim 2026</a:t>
            </a:r>
            <a:endParaRPr sz="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787D5FE-986C-4CE8-8447-C5B105683E3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67bd545054e93" /><Relationship Type="http://schemas.openxmlformats.org/officeDocument/2006/relationships/slideLayout" Target="/ppt/slideLayouts/slideLayout1.xml" Id="Rc03844b637924eb2" /><Relationship Type="http://schemas.openxmlformats.org/officeDocument/2006/relationships/slideLayout" Target="/ppt/slideLayouts/slideLayout2.xml" Id="Rc2c5106831a8411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58116F-1514-44DA-870F-F5CDC90815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844b637924eb2"/>
    <p:sldLayoutId xmlns:r="http://schemas.openxmlformats.org/officeDocument/2006/relationships" id="2147483650" r:id="Rc2c5106831a8411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afcb13ba3e43be" /><Relationship Type="http://schemas.openxmlformats.org/officeDocument/2006/relationships/image" Target="/ppt/media/image.png" Id="Rce902dd7df924abb" /><Relationship Type="http://schemas.openxmlformats.org/officeDocument/2006/relationships/notesSlide" Target="/ppt/notesSlides/notesSlide1.xml" Id="Re85c7fd3c7c2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093ca249a4f3f" /><Relationship Type="http://schemas.openxmlformats.org/officeDocument/2006/relationships/notesSlide" Target="/ppt/notesSlides/notesSlide2.xml" Id="R610b94038b67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9497a8abab414e" /><Relationship Type="http://schemas.openxmlformats.org/officeDocument/2006/relationships/notesSlide" Target="/ppt/notesSlides/notesSlide3.xml" Id="Rd21993f6987d4f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d33c958384ef5" /><Relationship Type="http://schemas.openxmlformats.org/officeDocument/2006/relationships/notesSlide" Target="/ppt/notesSlides/notesSlide4.xml" Id="Rb928d7b5278b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aca9f9ff2f449b" /><Relationship Type="http://schemas.openxmlformats.org/officeDocument/2006/relationships/notesSlide" Target="/ppt/notesSlides/notesSlide5.xml" Id="Re130dca6ce4a47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42cb2d0b074861" /><Relationship Type="http://schemas.openxmlformats.org/officeDocument/2006/relationships/image" Target="/ppt/media/image.jpeg" Id="Rffa8c9c7ed274fa8" /><Relationship Type="http://schemas.openxmlformats.org/officeDocument/2006/relationships/notesSlide" Target="/ppt/notesSlides/notesSlide6.xml" Id="Ra332cd614f7248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a1d111e1a48ac" /><Relationship Type="http://schemas.openxmlformats.org/officeDocument/2006/relationships/image" Target="/ppt/media/image2.jpeg" Id="R67e1c333e78f4fb9" /><Relationship Type="http://schemas.openxmlformats.org/officeDocument/2006/relationships/image" Target="/ppt/media/image3.jpeg" Id="Rf2d65b83a02546c3" /><Relationship Type="http://schemas.openxmlformats.org/officeDocument/2006/relationships/notesSlide" Target="/ppt/notesSlides/notesSlide7.xml" Id="Rcbc7e31d2bdf4d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c39daafa8b4ccc" /><Relationship Type="http://schemas.openxmlformats.org/officeDocument/2006/relationships/image" Target="/ppt/media/image4.jpeg" Id="Rc4e30e7324bb4bd7" /><Relationship Type="http://schemas.openxmlformats.org/officeDocument/2006/relationships/notesSlide" Target="/ppt/notesSlides/notesSlide8.xml" Id="R46814402ccbd43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20af29d7449ed" /><Relationship Type="http://schemas.openxmlformats.org/officeDocument/2006/relationships/image" Target="/ppt/media/image5.jpeg" Id="Re6f3ffa8448747e9" /><Relationship Type="http://schemas.openxmlformats.org/officeDocument/2006/relationships/notesSlide" Target="/ppt/notesSlides/notesSlide9.xml" Id="R86e6a5a8e64c48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b5b00d897f44bf" /><Relationship Type="http://schemas.openxmlformats.org/officeDocument/2006/relationships/image" Target="/ppt/media/image6.jpeg" Id="R1531523c6e144afa" /><Relationship Type="http://schemas.openxmlformats.org/officeDocument/2006/relationships/notesSlide" Target="/ppt/notesSlides/notesSlide10.xml" Id="Ra1dee9ed51fe4f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168e7333b4374" /><Relationship Type="http://schemas.openxmlformats.org/officeDocument/2006/relationships/image" Target="/ppt/media/image7.jpeg" Id="R10c1d22b9abc4df8" /><Relationship Type="http://schemas.openxmlformats.org/officeDocument/2006/relationships/notesSlide" Target="/ppt/notesSlides/notesSlide11.xml" Id="R5cf3ebb7b1c648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d89a54c1bf4a62" /><Relationship Type="http://schemas.openxmlformats.org/officeDocument/2006/relationships/image" Target="/ppt/media/image8.jpeg" Id="Rf19c0ae3ae0f425b" /><Relationship Type="http://schemas.openxmlformats.org/officeDocument/2006/relationships/notesSlide" Target="/ppt/notesSlides/notesSlide12.xml" Id="Rcbac2dec654f41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80ecdf84514178" /><Relationship Type="http://schemas.openxmlformats.org/officeDocument/2006/relationships/image" Target="/ppt/media/image9.jpeg" Id="R5bf8f5b3c25f45d0" /><Relationship Type="http://schemas.openxmlformats.org/officeDocument/2006/relationships/notesSlide" Target="/ppt/notesSlides/notesSlide13.xml" Id="R9ef23bd9b12e4c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590517230e4e07" /><Relationship Type="http://schemas.openxmlformats.org/officeDocument/2006/relationships/notesSlide" Target="/ppt/notesSlides/notesSlide14.xml" Id="R693a2d1139f34a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705f5848d46ac" /><Relationship Type="http://schemas.openxmlformats.org/officeDocument/2006/relationships/image" Target="/ppt/media/image10.jpeg" Id="R95f4c64f9b184ab6" /><Relationship Type="http://schemas.openxmlformats.org/officeDocument/2006/relationships/notesSlide" Target="/ppt/notesSlides/notesSlide15.xml" Id="R48410b885a9544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a6eb5a0104e77" /><Relationship Type="http://schemas.openxmlformats.org/officeDocument/2006/relationships/image" Target="/ppt/media/image11.jpeg" Id="R50433245fd584ba9" /><Relationship Type="http://schemas.openxmlformats.org/officeDocument/2006/relationships/notesSlide" Target="/ppt/notesSlides/notesSlide16.xml" Id="Rcdb5509686fe41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fc184d9c04ec1" /><Relationship Type="http://schemas.openxmlformats.org/officeDocument/2006/relationships/notesSlide" Target="/ppt/notesSlides/notesSlide17.xml" Id="Rdf99810e72974f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4b6f2108604956" /><Relationship Type="http://schemas.openxmlformats.org/officeDocument/2006/relationships/image" Target="/ppt/media/image12.jpeg" Id="R9298a300588b4b7a" /><Relationship Type="http://schemas.openxmlformats.org/officeDocument/2006/relationships/notesSlide" Target="/ppt/notesSlides/notesSlide18.xml" Id="Re77bf5bc37274d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37cea66aa4604" /><Relationship Type="http://schemas.openxmlformats.org/officeDocument/2006/relationships/image" Target="/ppt/media/image13.jpeg" Id="R14d30066727946c6" /><Relationship Type="http://schemas.openxmlformats.org/officeDocument/2006/relationships/notesSlide" Target="/ppt/notesSlides/notesSlide19.xml" Id="R10713cec79664c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f8933e1e7f41d7" /><Relationship Type="http://schemas.openxmlformats.org/officeDocument/2006/relationships/notesSlide" Target="/ppt/notesSlides/notesSlide20.xml" Id="Rd31539fd9e144b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28f013b004c28" /><Relationship Type="http://schemas.openxmlformats.org/officeDocument/2006/relationships/notesSlide" Target="/ppt/notesSlides/notesSlide21.xml" Id="Rd9e0a0671bdd41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f5be5fc6d499c" /><Relationship Type="http://schemas.openxmlformats.org/officeDocument/2006/relationships/notesSlide" Target="/ppt/notesSlides/notesSlide22.xml" Id="Rc0335899e5fc48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dab065c2e5476c" /><Relationship Type="http://schemas.openxmlformats.org/officeDocument/2006/relationships/notesSlide" Target="/ppt/notesSlides/notesSlide23.xml" Id="Rb31ac129a52844f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16af5a86c641a9" /><Relationship Type="http://schemas.openxmlformats.org/officeDocument/2006/relationships/notesSlide" Target="/ppt/notesSlides/notesSlide24.xml" Id="Rdf9049149b974f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5ab348aa24f48" /><Relationship Type="http://schemas.openxmlformats.org/officeDocument/2006/relationships/notesSlide" Target="/ppt/notesSlides/notesSlide25.xml" Id="R8e83b8a671b947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7450ded194317" /><Relationship Type="http://schemas.openxmlformats.org/officeDocument/2006/relationships/notesSlide" Target="/ppt/notesSlides/notesSlide26.xml" Id="Rc808b0616c324b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857f16e9b4491" /><Relationship Type="http://schemas.openxmlformats.org/officeDocument/2006/relationships/notesSlide" Target="/ppt/notesSlides/notesSlide27.xml" Id="Rad4819af358c42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ffa4c26424c9e" /><Relationship Type="http://schemas.openxmlformats.org/officeDocument/2006/relationships/notesSlide" Target="/ppt/notesSlides/notesSlide28.xml" Id="R46a9b41640b34a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0c03c8a9646d5" /><Relationship Type="http://schemas.openxmlformats.org/officeDocument/2006/relationships/notesSlide" Target="/ppt/notesSlides/notesSlide29.xml" Id="R89873bd6c8cd417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b3ddb92ea40c9" /><Relationship Type="http://schemas.openxmlformats.org/officeDocument/2006/relationships/notesSlide" Target="/ppt/notesSlides/notesSlide30.xml" Id="Rbf50acd323c446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E8141B-E7A7-44A4-B4C1-3DF04EE9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5943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POSEIDON v46.3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284B9E-C6A8-4C6F-99EE-EB0C9A16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874520"/>
            <a:ext cx="576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A8D9EC"/>
                </a:solidFill>
              </a:rPr>
              <a:t>Gemi + Römorkör Emniyet, Uyum, Güvenilirlik ve Zekâ İşletim Sistemi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762AD56-0B44-4D3C-BB69-216D7FCB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871216"/>
            <a:ext cx="5303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</a:rPr>
              <a:t>Yönetim • Satış • Teknik • Controlled Candidate Sunumu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BB8642C-13D6-4DB9-B33F-E5198A0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01568"/>
            <a:ext cx="126187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204297-9C8A-458F-AACC-1DE20F2F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465576"/>
            <a:ext cx="11155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4FC3F7"/>
                </a:solidFill>
              </a:rPr>
              <a:t>196 EKRAN</a:t>
            </a:r>
            <a:endParaRPr sz="72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42D24D3-C113-49FE-97DE-1C2F6CEF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3401568"/>
            <a:ext cx="141732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43D1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2398F8-0BA0-47BD-9F5F-53A59E0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256" y="3465576"/>
            <a:ext cx="127101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43D1C1"/>
                </a:solidFill>
              </a:rPr>
              <a:t>2.316 ALAN</a:t>
            </a:r>
            <a:endParaRPr sz="72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F188DF8-F0F1-4FC2-B388-36A364A7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401568"/>
            <a:ext cx="137160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0BB30F-DFA8-4C55-8307-ADBCC64B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465576"/>
            <a:ext cx="1225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F8C15D"/>
                </a:solidFill>
              </a:rPr>
              <a:t>128 KAYNAK</a:t>
            </a:r>
            <a:endParaRPr sz="7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911473-BC2E-4F61-A48A-E0A45E40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401568"/>
            <a:ext cx="1207008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472CBCB-F4C9-4773-8960-C3C0F3F0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5576"/>
            <a:ext cx="10607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B99CFF"/>
                </a:solidFill>
              </a:rPr>
              <a:t>13 TUG</a:t>
            </a:r>
            <a:endParaRPr sz="7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B27EF6D-53ED-4659-B56B-7B9ADA1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932688"/>
            <a:ext cx="5221224" cy="4279392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4" name="Image 0">
            <a:extLst xmlns:a="http://schemas.openxmlformats.org/drawingml/2006/main">
              <a:ext uri="{FF2B5EF4-FFF2-40B4-BE49-F238E27FC236}">
                <a16:creationId xmlns:a16="http://schemas.microsoft.com/office/drawing/2014/main" id="{3BC86C1C-7E28-409C-A392-B2543EF1EF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02dd7df924abb"/>
          <a:srcRect xmlns:a="http://schemas.openxmlformats.org/drawingml/2006/main" l="11783" t="0" r="11783" b="0"/>
          <a:stretch xmlns:a="http://schemas.openxmlformats.org/drawingml/2006/main"/>
        </p:blipFill>
        <p:spPr>
          <a:xfrm xmlns:a="http://schemas.openxmlformats.org/drawingml/2006/main">
            <a:off x="6537960" y="960120"/>
            <a:ext cx="5166360" cy="4224528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AB921-D227-45D3-8175-7D540BE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074920"/>
            <a:ext cx="5394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FC3F7"/>
                </a:solidFill>
              </a:rPr>
              <a:t>Ship Safety, Compliance, Reliability &amp; Intelligence OS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9BE5FD7-039B-4CFF-A39A-01AB1358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504688"/>
            <a:ext cx="109270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B"/>
                </a:solidFill>
              </a:rPr>
              <a:t>Scope freeze: GEMİ + RÖMORKÖR. Fleet/Company yönetim bağlamıdır; Port/Terminal/Berth/VTS yönetimi kapsam dışıdır.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936671B-18BB-4144-917F-B41E4499C1E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51933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551F1B3-2761-4645-AF86-58A5ACF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Yönetici Özeti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235030-FAC5-4957-A11D-CCE3063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Foundation için kontrollü aday. Geliştirme kararı, açık kapılar ve yetkili onaylarına bağlı.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689AE3B-935D-4404-84E9-AFD799F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D09520-52F5-468E-A7F5-69941F90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88366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55D69E"/>
                </a:solidFill>
              </a:rPr>
              <a:t>ADAY</a:t>
            </a:r>
            <a:endParaRPr sz="2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CBBFA37-CC65-46FA-BC6B-9806376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24028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Sprint 0 / Foundation</a:t>
            </a:r>
            <a:endParaRPr sz="83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8674E-01DF-4001-B37B-7E6A967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44144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Baseline onayı bekleniyor</a:t>
            </a:r>
            <a:endParaRPr sz="67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8B9972-0177-4B8E-9F6E-2AE97203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173736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B9BE96-8BC0-4C10-B2C9-5B5CE2A4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188366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4FC3F7"/>
                </a:solidFill>
              </a:rPr>
              <a:t>196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6D32E3-442C-4169-B1E8-E1FB231E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24028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Kontrollü ekran</a:t>
            </a:r>
            <a:endParaRPr sz="83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1F737DF-EB23-498E-B087-AEB945C9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44144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Role/context ile sadeleşir</a:t>
            </a:r>
            <a:endParaRPr sz="67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F767FAF-F31D-4860-99F1-B270EB13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73736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DA4DA07-9A6A-46A6-9A4E-3F30930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366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43D1C1"/>
                </a:solidFill>
              </a:rPr>
              <a:t>2.316</a:t>
            </a:r>
            <a:endParaRPr sz="2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59AEDD-FB95-4CB0-BDFD-724D26B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Alan sözleşmesi</a:t>
            </a:r>
            <a:endParaRPr sz="8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842F81-3382-4ED2-8D02-FF0A8EDB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144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API + entity + FR + test izi</a:t>
            </a:r>
            <a:endParaRPr sz="67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878039D-0128-4830-937F-53064E77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173736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3503E3D-555C-4402-A9F9-8E0691B4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188366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8C15D"/>
                </a:solidFill>
              </a:rPr>
              <a:t>128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D5638DF-7A2D-418A-BB84-43A78C3A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24028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Mevzuat kaynak evreni</a:t>
            </a:r>
            <a:endParaRPr sz="83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AD30C29-AB64-4CBF-8418-2C7C100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44144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Applicability ile aktive olur</a:t>
            </a:r>
            <a:endParaRPr sz="67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AC26386-8A31-45AE-8C69-5830EC4B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73736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B106207-3453-4B6A-9EC3-EC2394F0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188366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B99CFF"/>
                </a:solidFill>
              </a:rPr>
              <a:t>2 MOD</a:t>
            </a:r>
            <a:endParaRPr sz="2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497EA9F-1D4B-44B1-96E1-3DC989F3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224028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Gemi + Römorkör</a:t>
            </a:r>
            <a:endParaRPr sz="83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77329AD-9C08-4D54-AF07-B3B70D5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244144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Eşit first-class çalışma modu</a:t>
            </a:r>
            <a:endParaRPr sz="67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8A6812F-00B4-4A22-AB54-1BE1614A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361188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397EF29-BC68-4B4D-998E-511ACF16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980944"/>
            <a:ext cx="4572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EDDADD-0FF8-439F-982E-C002308C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36392"/>
            <a:ext cx="3319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Bugün ne hazır?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6EA416C-E06E-4A36-9901-0A323BFD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83864"/>
            <a:ext cx="3319272" cy="1499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Master Product Spec • PRD/SRS • 196 ekran • 2.316 alan • TR/EN prototip • Backlog • Test/UAT gates • Legal register • Applicability engine • Tug crew/equipment rule pack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D351985-ADB7-4608-9BDA-2CEE04D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71800"/>
            <a:ext cx="361188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322580000" dist="6451600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05FE824-A04E-4756-AFBC-16C446FF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2980944"/>
            <a:ext cx="4572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75E435-57AB-4B79-9A27-F1979704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136392"/>
            <a:ext cx="3319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Ne paralel kapanacak?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7383092-AB35-4CB0-927C-21FB6A49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483864"/>
            <a:ext cx="3319272" cy="1499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Final ERD • ürün geneli API/Integration Spec • 196 ekran görselli katalog • AI Governance/Data Strategy • external flag/class/legal sign-off • pilot data reconciliation • CI/DB gate</a:t>
            </a:r>
            <a:endParaRPr sz="8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4B84F99-50EC-45AC-AAA2-C2479831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71800"/>
            <a:ext cx="361188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AFF6F1C-6C1A-474C-8FE1-4B7226ED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2980944"/>
            <a:ext cx="4572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4574498-2AFA-44D2-B316-AED01771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136392"/>
            <a:ext cx="3319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Freeze kuralı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2F7BC56-9CF4-4CA1-B676-FAFB7F8C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483864"/>
            <a:ext cx="3319272" cy="1499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Ana kapsam değişmeyecek. Yeni ihtiyaçlar Change Control / MOC üzerinden değerlendirilecek. Critical UNKNOWN hiçbir zaman sahte “uyumlu/hazır” sonucu üretmeyecek.</a:t>
            </a:r>
            <a:endParaRPr sz="8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D542C9E-33FD-4AAD-B3B4-7282DC2B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75260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8DF5AE4-3FCA-4232-A0CE-4E2693D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78424"/>
            <a:ext cx="1661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Scope</a:t>
            </a:r>
            <a:endParaRPr sz="7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4C29F22-25BB-4932-B088-75B64FB2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968" y="5532120"/>
            <a:ext cx="175260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C4A9A2E-3ABA-465D-9A73-848C05A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688" y="5678424"/>
            <a:ext cx="1661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Requirement</a:t>
            </a:r>
            <a:endParaRPr sz="7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3C5FDDB-F76E-4C09-9D4A-3E1436F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296" y="5532120"/>
            <a:ext cx="175260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F17F3D3-442C-4EA5-B60F-E028F96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5678424"/>
            <a:ext cx="1661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Screen/Field</a:t>
            </a:r>
            <a:endParaRPr sz="7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40C59EE-A7B8-477C-A26A-0C33CED4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5532120"/>
            <a:ext cx="175260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7B0CD51-5F49-4BC5-9952-FE70D40C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5678424"/>
            <a:ext cx="1661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API/Entity</a:t>
            </a:r>
            <a:endParaRPr sz="7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117AA59-FB26-4842-B431-A9E32EA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52" y="5532120"/>
            <a:ext cx="175260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B66AE1E-722F-4BC1-B267-DC730AEA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5678424"/>
            <a:ext cx="1661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FR/Test</a:t>
            </a:r>
            <a:endParaRPr sz="7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625F7915-1771-4129-AB1E-B36ADCB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5532120"/>
            <a:ext cx="175260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A48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E9BDFB4-510F-4605-9D5F-904700B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78424"/>
            <a:ext cx="1661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55D69E"/>
                </a:solidFill>
              </a:rPr>
              <a:t>Development</a:t>
            </a:r>
            <a:endParaRPr sz="750"/>
          </a:p>
        </p:txBody>
      </p:sp>
      <p:sp>
        <p:nvSpPr>
          <p:cNvPr id="4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3D4E78A-4008-4FAD-9A28-8B3F4E3C91F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01644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10621F-F2CB-4B95-88ED-6FE51EF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Neyi çözüyor?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7EB88B-00F2-44DB-BBA6-54836B9D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Denizcilik operasyonunda bilgi var; sorun, doğru anda doğrulanmış karar ve kanıta dönüşmemesi.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25C549-E40D-4FF8-A708-D47C1C72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06040" cy="29718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E76A70-57E6-441F-9570-BCA87401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746504"/>
            <a:ext cx="45720" cy="2953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860002F-DA9C-469C-9E9F-C4262CBC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019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Dağınık operasyon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70D429-224B-4D9A-9F30-FCA607A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49424"/>
            <a:ext cx="2313432" cy="2368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SMS dokümanları, crew belgeleri, PMS, class/flag cert, HSE kayıtları ve operasyon kanıtları farklı yerlerde.</a:t>
            </a:r>
            <a:endParaRPr sz="8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831F7C0-79B1-447A-987A-763FF348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737360"/>
            <a:ext cx="2606040" cy="29718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256E68-9C67-4D33-B6E5-8F2E8DC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746504"/>
            <a:ext cx="45720" cy="2953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E04139D-6CC3-41A9-B239-FB8F52E1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019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Reaktif emniyet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7846E7-CDFD-4598-98CC-93DFF92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49424"/>
            <a:ext cx="2313432" cy="2368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Kritik signal çoğu zaman audit, arıza veya olaydan sonra görünür. Tekil “yeşil KPI” gerçek blocker’ı maskeleyebilir.</a:t>
            </a:r>
            <a:endParaRPr sz="8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51545B4-299A-451E-B32C-5697495B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737360"/>
            <a:ext cx="2606040" cy="29718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5AC8A1E-36B9-44C6-96D3-427B5D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46504"/>
            <a:ext cx="45720" cy="2953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95DF573-AB33-4143-8B7D-038F16C5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9019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İzlenebilirlik açığı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E267469-0E7F-4353-A511-4A695CD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249424"/>
            <a:ext cx="2313432" cy="2368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Requirement → control → operation → evidence → verification → human decision zinciri tek yerde değil.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DC7C3C7-73F4-46A4-8222-F23DE48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1737360"/>
            <a:ext cx="2606040" cy="29718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A3681AF-439A-4C2A-84CC-41622D01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746504"/>
            <a:ext cx="45720" cy="2953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BB6278-2C6A-439E-A9E1-2CCBD1E2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9019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Çözüm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AAEA4F3-8D00-49DA-98D3-065886F4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2249424"/>
            <a:ext cx="2313432" cy="2368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POSEIDON doğru role yalnız bugünkü istisnayı ve yapılacak işi gösterir; nedenini, kaynağını, sahibi ve kanıtıyla birlikte.</a:t>
            </a:r>
            <a:endParaRPr sz="8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213E6DA-7C4A-47C2-AAD9-3921B2E3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4FC3F7"/>
                </a:solidFill>
                <a:latin typeface="Aptos Display"/>
                <a:ea typeface="Aptos Display"/>
                <a:cs typeface="Aptos Display"/>
              </a:rPr>
              <a:t>Operate. Comply. Predict. Decide.</a:t>
            </a:r>
            <a:endParaRPr sz="2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69DBE4E-6106-45D9-A5D0-66FC79C0B0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53077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C98A9D-FBE9-4441-A4A9-AD2A4368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Kontrollü Kapsam: Gemi + Römorkör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8422D8-EA83-4B20-8B98-A0D95EE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İki operasyon modu aynı güvenlik/compliance çekirdeğini paylaşır; iş ritimleri farklıdır.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EB82E1-AEAF-458A-AF79-7792B13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074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4CCB0E-11BB-442F-8213-319EBDFD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700784"/>
            <a:ext cx="45720" cy="3273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8FA70B-0AE6-473E-B618-62ECBEE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56232"/>
            <a:ext cx="4782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GEMİ MODU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78C671-7FFE-4E12-8947-A6C388B3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03704"/>
            <a:ext cx="4782312" cy="2688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Departure • Voyage • Arrival • Cargo/Tanker • Crew • PMS • Certificates • Emergency • Safety • Assurance • Compliance • Mobile/Offline</a:t>
            </a:r>
            <a:endParaRPr sz="8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1A8DA25-2A90-4EA7-BD1E-345DE4C8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691640"/>
            <a:ext cx="5074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0F4C5E1-F6CE-437F-8B60-DDBB0DD4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700784"/>
            <a:ext cx="45720" cy="3273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43A379-133C-4946-BE8E-FAF7680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856232"/>
            <a:ext cx="47823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RÖMORKÖR MODU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7390E0-B9C1-4C65-BF4D-090EC665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203704"/>
            <a:ext cx="4782312" cy="2688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Job Intake • Job Board • Assignment • Crew/Equipment Readiness • Towage Plan • Risk &amp; Briefing • Execution • Daily Log • History</a:t>
            </a:r>
            <a:endParaRPr sz="8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FC9951B-84FD-4002-90F6-44912784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788920"/>
            <a:ext cx="1280160" cy="914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02D3C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6457A63-14AA-4DC0-8621-16C6696B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990088"/>
            <a:ext cx="1051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5D69E"/>
                </a:solidFill>
              </a:rPr>
              <a:t>ORTAK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5D69E"/>
                </a:solidFill>
              </a:rPr>
              <a:t>ÇEKİRDEK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EB8A556-4F40-4D7A-A0CF-2A442517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0368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4F8FB"/>
                </a:solidFill>
              </a:rPr>
              <a:t>Fleet / Company = tenant, yönetim, toplulaştırma ve karma filo context’i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174EA18-E870-4E38-A254-C38DEE6D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9280"/>
            <a:ext cx="10515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93A9B8"/>
                </a:solidFill>
              </a:rPr>
              <a:t>Kapsam dışı: Port/Terminal/Berth allocation, VTS/Port Traffic, liman kaynak planlaması. Port/berth bilgisi yalnız operasyon context’i olabilir.</a:t>
            </a:r>
            <a:endParaRPr sz="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1B8CA95-6AA8-4E0B-BC83-57F385142F4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8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274C4F-77A5-4CA2-A5E9-85B6167C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Ürün Mimarisi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5D5C2E-C332-4FCB-BB73-146ED89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Role-first daily UX üzerinde 16+ domain; kullanıcıya 196 ekranı ezberletmeyen yapı.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3769F7-7C17-46B4-A9B6-5E62F8F3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FDF04F-EE23-4B0F-8892-A810E407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65506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F623C2-97D1-4BF8-87FC-9D2EE851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1051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Command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3DF063-C9A0-43CC-9F07-347B2750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5798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Today / Inbox / Role Dashboards</a:t>
            </a:r>
            <a:endParaRPr sz="8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82F69E6-F42A-4955-B66E-2B7A599E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64592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C3A3496-8AF3-45CD-A162-90289DAD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65506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67018E-E1B0-4B20-B882-6150A0FF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1051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Fleet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A12BAA7-CF94-4432-AA7F-3BEFDD9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5798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Vessel / Readiness / Passport</a:t>
            </a:r>
            <a:endParaRPr sz="8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0152142-416D-42DD-9F15-3B297294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64592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4B8A94D-CC69-4273-BBC7-84FA01F5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5506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193F9BA-B41F-42D5-A08D-0483F4FE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81051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People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62CF47-B068-46A5-821C-26D5A7A2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5798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Crew / Competence / Work-Rest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B154463-17D7-4B25-8F97-E7EF010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164592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8D34DE-76A2-46A6-8183-4D395B6B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65506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7258790-C67B-4452-8185-A805FDA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81051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Operations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D837E0-88ED-4B81-BA26-9B347CD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15798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Ship / Tanker / Tug</a:t>
            </a:r>
            <a:endParaRPr sz="8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50DC72D-6929-4831-8438-39AE1587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5617013-18A0-4F3E-A5D8-0EFCE60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07238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0CED52D-44FD-4A8A-9728-0EE93983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2783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Safety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95FCF8-13AE-4672-AA90-F0BFE615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7530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HSE / Emergency / Events</a:t>
            </a:r>
            <a:endParaRPr sz="8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8534AF6-0CCC-4B88-A9CA-33F4D1D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06324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A9FE5BE-2619-464E-B0CF-1F58711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07238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A784150-F66C-4CFA-ACAA-6782FC29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22783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Technical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869DD68-B45F-4E80-9CB2-7853E8FC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57530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PMS / Asset / Defect / Spares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6E1E742-204B-4402-BA42-6E111234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06324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807757A-11F4-46FF-AEC5-BED6BC42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07238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57A5A58-F186-4327-A342-94683CB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22783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Knowledge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70D32D0-85B4-4B80-B319-A78E421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57530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SMS / Procedure / Notices</a:t>
            </a:r>
            <a:endParaRPr sz="8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AC0C6E0-FBF5-4233-903F-D547ADB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306324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27821B0-47C1-4A0A-847D-A44FF8D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07238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C0DF1F3-8FBB-45AD-915B-DC1AAF8A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22783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Assurance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7F02B4E-AB43-4DBD-80F7-9BEEBB56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57530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Audit / PSC / Class / Certification</a:t>
            </a:r>
            <a:endParaRPr sz="8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AB2FB03-748D-4BC1-870B-C6FBF6D6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E5D0E45-B903-4894-B183-491415D0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448970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E55176B-6BB8-4678-8CE0-D865897B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Regulatory</a:t>
            </a:r>
            <a:endParaRPr sz="11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A04DC3D-7C3A-4FB9-B06B-F493C1E1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9262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Requirement / Applicability / Evidence</a:t>
            </a:r>
            <a:endParaRPr sz="82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11E4E2-D715-4E78-B7DB-BC0D3AE6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48056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CEF8092-BBB2-4DA8-B4FB-A45D774C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48970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E33EDB5-66B6-4758-8DE8-F21D752E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6451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Intelligence</a:t>
            </a:r>
            <a:endParaRPr sz="11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032A129-ECD5-4A06-AECD-20F23A80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99262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Why / Risk / Copilot / Decision</a:t>
            </a:r>
            <a:endParaRPr sz="82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284782E-BF5C-4648-A810-4C2177AA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448056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1F76F702-52CE-4760-B8EA-6F6A4ED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48970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AB4DF22-D78C-4533-9BFA-1DE92548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6451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Mobile</a:t>
            </a:r>
            <a:endParaRPr sz="11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0DD1183-FF5F-4FD3-A0F8-D7EC9229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99262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Tasks / QR / Offline / Sync</a:t>
            </a:r>
            <a:endParaRPr sz="82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4FF0AFE6-CA01-4E10-B6EA-BB99EDC1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4480560"/>
            <a:ext cx="26060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502E38AE-52B1-47FF-9022-FBF52C99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48970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346F75BD-0416-487A-BF19-DAD9E72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645152"/>
            <a:ext cx="2313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Administration</a:t>
            </a:r>
            <a:endParaRPr sz="11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9ACDC7A1-688F-41D0-B23A-79A81E2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992624"/>
            <a:ext cx="231343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Workflow / Integration / Data Trust</a:t>
            </a:r>
            <a:endParaRPr sz="820"/>
          </a:p>
        </p:txBody>
      </p:sp>
      <p:sp>
        <p:nvSpPr>
          <p:cNvPr id="5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A8E3F8A-8884-40C0-8AE3-2324A0D1597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85791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17D815-6EBF-47E7-9A3D-9B9A5AE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Role-First UX: POSEIDON Bugün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7B50FC-1E5E-4AD5-8878-C11AB80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“Normal” sessiz kalır; yalnız bugün karar/aksiyon gerektiren istisnalar görünür.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6D7912-1F6C-4247-8449-C0E8E9AD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7552944" cy="4672584"/>
          </a:xfrm>
          <a:prstGeom xmlns:a="http://schemas.openxmlformats.org/drawingml/2006/main" prst="roundRect">
            <a:avLst>
              <a:gd name="adj" fmla="val 1174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60777A09-6C7D-42EE-A6AF-2F7788AE6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8c9c7ed274fa8"/>
          <a:srcRect xmlns:a="http://schemas.openxmlformats.org/drawingml/2006/main" l="0" t="732" r="0" b="732"/>
          <a:stretch xmlns:a="http://schemas.openxmlformats.org/drawingml/2006/main"/>
        </p:blipFill>
        <p:spPr>
          <a:xfrm xmlns:a="http://schemas.openxmlformats.org/drawingml/2006/main">
            <a:off x="594360" y="1600200"/>
            <a:ext cx="7498080" cy="461772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02DA8C-3A03-429A-8509-C7C9924D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664208"/>
            <a:ext cx="33375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BC83028-B351-44F8-9AB6-38BE0D49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73352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8CA7E09-B2B3-45C7-AF89-E940A756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1828800"/>
            <a:ext cx="3044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Situation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0FE79B1-5960-4A30-B508-CF96CDA0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176272"/>
            <a:ext cx="30449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Bugün maddi olarak ne farklı?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D453CC0-A76E-4265-A7DB-CFF7C9DF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26080"/>
            <a:ext cx="33375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156BE08-47C0-4621-B754-933AC57B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935224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E4C387B-8BAA-49BB-9242-957B1135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90672"/>
            <a:ext cx="3044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Action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88D0140-75D7-464B-8923-92214597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438144"/>
            <a:ext cx="30449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Şimdi ne yapmalıyım?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0E483EC-13C6-412C-BE95-8C97E7F8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187952"/>
            <a:ext cx="33375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8FC8134-AF2C-4C42-837F-7993BAB5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97096"/>
            <a:ext cx="45720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46D399D-E647-46A1-9ED6-8370A96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352544"/>
            <a:ext cx="3044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Why + Proof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8DF10C4-E6E6-477E-85A0-68DDCFF5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700016"/>
            <a:ext cx="3044952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Hangi kaynak/kanıt/blocker bunu sürüklüyor?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D737364-E8E7-416F-BBEA-05B571C4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449824"/>
            <a:ext cx="333756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A93EF7A-1A8B-4397-9F95-3CE9253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5458968"/>
            <a:ext cx="457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B33D3F3-6BA4-4FE7-9B24-E28076A2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614416"/>
            <a:ext cx="3044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Decision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12C9A24-CD2A-4EF2-BE2B-C0AED8ED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961888"/>
            <a:ext cx="3044952" cy="54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Hangi yetkili insan karar vermeli?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AAF7F31-0BCC-4C3F-AE05-70CC786AF7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948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3E4166-ACCB-4581-ADE7-1FFD309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Gemi Uçtan Uca Yolculuk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2D6A42-7F46-4208-8DE9-C8ABAA4A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Voyage readiness artık günlük operasyon verisiyle beslenir: Noon + Deck/Engine Logs + Fuel/ROB + evidence → readiness.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9B5E53-A088-4867-AB38-BA9E4680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53E377-B62B-412D-9A85-7966AED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Today</a:t>
            </a:r>
            <a:endParaRPr sz="7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39166E-37DC-4CE8-AEE0-6204B74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676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6DDE5A-35F3-4AD1-B473-51B8DA1C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396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Departure</a:t>
            </a:r>
            <a:endParaRPr sz="7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D9CE4C0-B79C-4631-B6AE-953942A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03B2D3-145C-429B-8BE9-E49DBAEB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Crew</a:t>
            </a:r>
            <a:endParaRPr sz="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A6F1D01-9E36-4B06-8364-D0DAD5FF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308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33FFF6A-4759-48D1-A9F3-477CEE3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028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Technical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5F7BFF-257B-449B-A71D-0D13959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567B6EF-D16C-44C2-838D-2A2D5C3D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Certificates</a:t>
            </a:r>
            <a:endParaRPr sz="7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C9E366F-26BD-43D5-BCFF-0D2A9629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BEB3A09-349E-4C02-A005-C2936A68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660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Operation</a:t>
            </a:r>
            <a:endParaRPr sz="7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6CFC891-F183-4518-81B3-EDEAE63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44313B-47FF-4255-84DD-06EAADEC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Evidence</a:t>
            </a:r>
            <a:endParaRPr sz="7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7E91D85-D29B-45A9-A733-453B636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572" y="1737360"/>
            <a:ext cx="127558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A48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91BA1DC-D118-4D04-8CF0-8FA4239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292" y="1883664"/>
            <a:ext cx="11841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4FC3F7"/>
                </a:solidFill>
              </a:rPr>
              <a:t>Master Decision</a:t>
            </a:r>
            <a:endParaRPr sz="7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C0D80B5-384E-45D4-BE79-9027E75C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41448"/>
            <a:ext cx="5449824" cy="3300984"/>
          </a:xfrm>
          <a:prstGeom xmlns:a="http://schemas.openxmlformats.org/drawingml/2006/main" prst="roundRect">
            <a:avLst>
              <a:gd name="adj" fmla="val 1662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1" name="Image 0">
            <a:extLst xmlns:a="http://schemas.openxmlformats.org/drawingml/2006/main">
              <a:ext uri="{FF2B5EF4-FFF2-40B4-BE49-F238E27FC236}">
                <a16:creationId xmlns:a16="http://schemas.microsoft.com/office/drawing/2014/main" id="{FA8CB818-1132-4D40-BB0F-A57795616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1c333e78f4fb9"/>
          <a:srcRect xmlns:a="http://schemas.openxmlformats.org/drawingml/2006/main" l="0" t="1864" r="0" b="1864"/>
          <a:stretch xmlns:a="http://schemas.openxmlformats.org/drawingml/2006/main"/>
        </p:blipFill>
        <p:spPr>
          <a:xfrm xmlns:a="http://schemas.openxmlformats.org/drawingml/2006/main">
            <a:off x="594360" y="2468880"/>
            <a:ext cx="5394960" cy="3246120"/>
          </a:xfrm>
          <a:prstGeom xmlns:a="http://schemas.openxmlformats.org/drawingml/2006/main" prst="rect">
            <a:avLst/>
          </a:prstGeom>
        </p:spPr>
      </p:pic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22E393B-043A-4771-B92B-677C6FA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1448"/>
            <a:ext cx="5449824" cy="3300984"/>
          </a:xfrm>
          <a:prstGeom xmlns:a="http://schemas.openxmlformats.org/drawingml/2006/main" prst="roundRect">
            <a:avLst>
              <a:gd name="adj" fmla="val 1662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>
            <a:extLst xmlns:a="http://schemas.openxmlformats.org/drawingml/2006/main">
              <a:ext uri="{FF2B5EF4-FFF2-40B4-BE49-F238E27FC236}">
                <a16:creationId xmlns:a16="http://schemas.microsoft.com/office/drawing/2014/main" id="{C3A88533-A0F7-46AA-BE1D-6A8491972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65b83a02546c3"/>
          <a:srcRect xmlns:a="http://schemas.openxmlformats.org/drawingml/2006/main" l="0" t="1864" r="0" b="1864"/>
          <a:stretch xmlns:a="http://schemas.openxmlformats.org/drawingml/2006/main"/>
        </p:blipFill>
        <p:spPr>
          <a:xfrm xmlns:a="http://schemas.openxmlformats.org/drawingml/2006/main">
            <a:off x="6199632" y="2468880"/>
            <a:ext cx="5394960" cy="3246120"/>
          </a:xfrm>
          <a:prstGeom xmlns:a="http://schemas.openxmlformats.org/drawingml/2006/main" prst="rect">
            <a:avLst/>
          </a:prstGeom>
        </p:spPr>
      </p:pic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6EF20A8-2129-46D1-A8CF-F25CBAC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97880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F4F8FB"/>
                </a:solidFill>
              </a:rPr>
              <a:t>Örnek: Critical maintenance + crew eligibility + survey window + emergency readiness aynı Master kararında görünür.</a:t>
            </a:r>
            <a:endParaRPr sz="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8BD24B-F3A4-406B-94F3-CEEBE2CDFB7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36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A419D1-790B-4187-A5C2-57B450C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Römorkör Uçtan Uca Yolculuk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804D02-BFC0-4633-944F-9191C0D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Römorkör artık profile değil; kendi kısa/sık iş ritmi ve emniyet kapıları olan tam operasyon modudur.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5672A2-C2F8-4840-BD46-644F16A2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1C76DC-45AE-4013-95E1-76FD6110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Job Intake</a:t>
            </a:r>
            <a:endParaRPr sz="7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6EECD86-C47A-4362-A56E-C93A50AE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96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3FE4E5-9C17-4ACD-ABE7-E171F88D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Job Board</a:t>
            </a:r>
            <a:endParaRPr sz="7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E53D2E3-69DE-4561-9FCF-5B4AD99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8BB180F-8150-4161-B564-45C1413E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Assignment</a:t>
            </a:r>
            <a:endParaRPr sz="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BF6EFC-0D58-4D31-8759-42926D47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7A6609B-0B64-4929-A365-5012EE08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Readiness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C815EBA-D1BA-43A5-AD45-2979C430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B3E0317-CF41-4F3C-9903-D046418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Towage Plan</a:t>
            </a:r>
            <a:endParaRPr sz="7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C9131B2-D5EB-4FEA-B031-6B3A11A5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D257183-4538-4A7A-8D8F-CE4BAAB2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Briefing</a:t>
            </a:r>
            <a:endParaRPr sz="7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4B6C80E-0DAA-440A-95F3-9C3B6BA3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C5FEEA-8687-40CE-9DFB-B8992603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Execution</a:t>
            </a:r>
            <a:endParaRPr sz="7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7C3F112-BDC9-4459-A026-C27B2E0A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691640"/>
            <a:ext cx="129844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A48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4D74999-236F-49DB-BDCD-E0640E3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1837944"/>
            <a:ext cx="1207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B99CFF"/>
                </a:solidFill>
              </a:rPr>
              <a:t>Log / History</a:t>
            </a:r>
            <a:endParaRPr sz="7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5DCCE43-9D81-4DD5-80E3-1EE680E4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6547104" cy="3666744"/>
          </a:xfrm>
          <a:prstGeom xmlns:a="http://schemas.openxmlformats.org/drawingml/2006/main" prst="roundRect">
            <a:avLst>
              <a:gd name="adj" fmla="val 1496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1" name="Image 0">
            <a:extLst xmlns:a="http://schemas.openxmlformats.org/drawingml/2006/main">
              <a:ext uri="{FF2B5EF4-FFF2-40B4-BE49-F238E27FC236}">
                <a16:creationId xmlns:a16="http://schemas.microsoft.com/office/drawing/2014/main" id="{FF2EC24C-B0BE-411F-9BF3-454746DFE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30e7324bb4bd7"/>
          <a:srcRect xmlns:a="http://schemas.openxmlformats.org/drawingml/2006/main" l="0" t="5493" r="0" b="5493"/>
          <a:stretch xmlns:a="http://schemas.openxmlformats.org/drawingml/2006/main"/>
        </p:blipFill>
        <p:spPr>
          <a:xfrm xmlns:a="http://schemas.openxmlformats.org/drawingml/2006/main">
            <a:off x="594360" y="2395728"/>
            <a:ext cx="6492240" cy="3611880"/>
          </a:xfrm>
          <a:prstGeom xmlns:a="http://schemas.openxmlformats.org/drawingml/2006/main" prst="rect">
            <a:avLst/>
          </a:prstGeom>
        </p:spPr>
      </p:pic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8C5083FB-A051-408B-860E-FA27F1B3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2432304"/>
            <a:ext cx="425196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6E32D0B-A1B9-467C-8ECA-97201938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2441448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6ED993E-D16D-4D4C-97EB-74DF87BB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596896"/>
            <a:ext cx="3959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Shore Planner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5BFD0D8-9C7A-4D25-91C7-AA41958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944368"/>
            <a:ext cx="395935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Atama yapar; overlap/BP/crew/equipment/PMS/cert kontrollerini görür.</a:t>
            </a:r>
            <a:endParaRPr sz="82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7CC71C1-E369-44FD-B131-0AA3A796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3593592"/>
            <a:ext cx="425196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4A2BF110-19B2-4E4B-B248-6CB2AD16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3602736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441F32C-30E9-4A1E-912A-0E14C847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758184"/>
            <a:ext cx="3959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Master / Tug Master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581E72-9B76-4FC5-847E-CA2E7960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4105656"/>
            <a:ext cx="395935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Final onboard safety authority. Start / suspend / abort / complete kararını verir.</a:t>
            </a:r>
            <a:endParaRPr sz="82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B14123B-A3B4-43ED-BF0D-3D8E4154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4754880"/>
            <a:ext cx="425196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FBE9316-4820-4911-A2C2-5FB21F2C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4764024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057AAE2-2996-4CE9-AA8C-2463F52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4919472"/>
            <a:ext cx="3959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Port OS değil</a:t>
            </a:r>
            <a:endParaRPr sz="11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D3333E2-3234-4FA0-805E-E07C55E6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5266944"/>
            <a:ext cx="395935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Kendi tug işlerini yönetir; berth/VTS/terminal kaynak yönetimi yapmaz.</a:t>
            </a:r>
            <a:endParaRPr sz="82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A571154-32AA-4BA1-9067-51E78F17CC7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43738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7A879A0-773D-40D6-AA8F-96CFFF8C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Römorkör Readiness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B33387-4EA9-4665-8244-64CE5DE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Crew + towing equipment + PMS + certificate + weather/comms koşulları açıklanabilir şekilde birleşir.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510AC7B-CB02-4C7E-A814-7B529C28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72768"/>
            <a:ext cx="7370064" cy="4581144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43F831A1-B97B-4965-B5CA-7A896DD7E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3ffa8448747e9"/>
          <a:srcRect xmlns:a="http://schemas.openxmlformats.org/drawingml/2006/main" l="0" t="500" r="0" b="500"/>
          <a:stretch xmlns:a="http://schemas.openxmlformats.org/drawingml/2006/main"/>
        </p:blipFill>
        <p:spPr>
          <a:xfrm xmlns:a="http://schemas.openxmlformats.org/drawingml/2006/main">
            <a:off x="640080" y="1600200"/>
            <a:ext cx="7315200" cy="452628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3946198-99FF-496B-B45E-929669CB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55648"/>
            <a:ext cx="30632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67B2788-80AF-4118-9143-727ADCAC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1901952"/>
            <a:ext cx="28072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8C15D"/>
                </a:solidFill>
              </a:rPr>
              <a:t>CONDITIONAL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C80F7A5-C4EC-4A9E-967A-701511B1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258568"/>
            <a:ext cx="28072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Overall state</a:t>
            </a:r>
            <a:endParaRPr sz="83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47A70E8-C16F-4293-A581-6B3E1FEE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280720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1 operational review</a:t>
            </a:r>
            <a:endParaRPr sz="67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E07E9A-BBED-403E-BDFA-7F979DC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852928"/>
            <a:ext cx="30632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5DB2052-D85A-437D-B901-A2AFA639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862072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3D93B6E-7CF5-4DA3-91A9-A01CC04C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17520"/>
            <a:ext cx="2770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Crew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9E20929-1AC7-4FC4-8C71-7AD94F7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364992"/>
            <a:ext cx="277063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MSMD + certificate + medical + competence + work/rest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5F262E7-FB4E-44F1-AFA1-18E1CA4F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59352"/>
            <a:ext cx="30632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6AAA3C4-A4A2-42C7-9D8D-6B99C4DF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968496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C64F45E-2C7E-4DBC-B346-3CE8F4CE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123944"/>
            <a:ext cx="2770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Equipment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E134803-91C1-4B9A-9811-E5AE80A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471416"/>
            <a:ext cx="277063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Winch • towline • tow hook • ERS • FiFi • PMS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471D957-500B-4CF3-9858-FA339DE5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065776"/>
            <a:ext cx="30632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BE2498D-CF59-4668-8893-3F1F02D7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5074920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9FD49F7-8502-4B70-9A47-D52A9ED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230368"/>
            <a:ext cx="2770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Human Gate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9C3E1C-8FE3-4C12-AFBF-70F53C42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577840"/>
            <a:ext cx="277063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Shore ataması onboard Master kararını bypass etmez.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DD6DC82-FED6-403F-8112-CD5977B6377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68792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8E4EEAB-D375-4343-9D2C-2CA0CDAD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Crew &amp; Competence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9C55E84-396E-47BF-8B88-4A604877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Person → Position → Qualification → Certificate → Competence → Training → Experience.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EB257E6-22BD-4BD3-91AA-85290EE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5541264" cy="4443984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B2B5A8E1-F9BB-4194-81A3-C05024091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1523c6e144afa"/>
          <a:srcRect xmlns:a="http://schemas.openxmlformats.org/drawingml/2006/main" l="10938" t="0" r="10938" b="0"/>
          <a:stretch xmlns:a="http://schemas.openxmlformats.org/drawingml/2006/main"/>
        </p:blipFill>
        <p:spPr>
          <a:xfrm xmlns:a="http://schemas.openxmlformats.org/drawingml/2006/main">
            <a:off x="594360" y="1645920"/>
            <a:ext cx="5486400" cy="438912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5252DD0-3263-4517-B8E6-88A34141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64208"/>
            <a:ext cx="5212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F231C1-97D0-4779-A4E6-3E27106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673352"/>
            <a:ext cx="4572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1A7A41-8203-4A8A-BDFB-E8538F22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28800"/>
            <a:ext cx="49194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Eligibility Engine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6EF24D2-1A75-48E7-BB70-6EE34727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176272"/>
            <a:ext cx="49194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MSMD → GT/kW → capacity → limitations → medical → training → competence → familiarization → work/rest → briefing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0EFFAD0-2433-4E88-879E-B453513F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16352"/>
            <a:ext cx="5212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29E15B8-8BA0-493B-952E-39FCBE90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825496"/>
            <a:ext cx="4572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B41AF90-10BD-4205-B970-A798E53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980944"/>
            <a:ext cx="49194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Safe Manning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A064D92-44B0-4C3D-99DE-BF5F85EC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328416"/>
            <a:ext cx="49194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Required profile vs actual crew; vessel/tug-specific authority document is primary evidence.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B073506-E91C-4AEE-B43D-051A78B4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68496"/>
            <a:ext cx="5212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3CBFF33-F6BB-43CD-91B9-784405C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977640"/>
            <a:ext cx="4572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8817600-422D-42D5-A92D-CD11B93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133088"/>
            <a:ext cx="49194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Assignment Gate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413F8F9-9FE4-4535-B27F-579AFF5C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80560"/>
            <a:ext cx="49194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Expired/missing mandatory credential = NOT_ELIGIBLE; uncertainty = REVIEW_REQUIRED.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4400B47-A5B8-414F-90E8-0BAD329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20640"/>
            <a:ext cx="52120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451F008-9A07-4142-8B20-D41425F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129784"/>
            <a:ext cx="45720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BC58781-FBEB-474D-B0D8-6F26D26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285232"/>
            <a:ext cx="49194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Fleet Insight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C59C13C-7153-4502-9AF1-7877E07C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632704"/>
            <a:ext cx="4919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Repeated rest/competence gaps feed Safety Intelligence without exposing unnecessary sensitive health data.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31E287-C98D-4E36-832D-F69952E306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1426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8E315F-16E1-4615-AD18-EC34A14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Technical / PMS 2.0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E58964-F73F-4242-B631-FCDBB8CB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Vessel → System → Equipment → Component; critical defects readiness’e doğrudan etki eder.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5E31CAA-565A-46E7-98DE-CC97CAA4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6455664" cy="4398264"/>
          </a:xfrm>
          <a:prstGeom xmlns:a="http://schemas.openxmlformats.org/drawingml/2006/main" prst="roundRect">
            <a:avLst>
              <a:gd name="adj" fmla="val 1247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BEDFFE61-F963-44E6-A77E-8F839CB01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1d22b9abc4df8"/>
          <a:srcRect xmlns:a="http://schemas.openxmlformats.org/drawingml/2006/main" l="3947" t="0" r="3947" b="0"/>
          <a:stretch xmlns:a="http://schemas.openxmlformats.org/drawingml/2006/main"/>
        </p:blipFill>
        <p:spPr>
          <a:xfrm xmlns:a="http://schemas.openxmlformats.org/drawingml/2006/main">
            <a:off x="594360" y="1645920"/>
            <a:ext cx="640080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ABE7944-94B5-4BFC-B42C-2465FBF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91640"/>
            <a:ext cx="4343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0C27A44-0345-4898-9596-8B3229DD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1700784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C129211-7F02-48D3-A73A-9FBD9EEB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4050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Asset Reliability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0B4DC68-143B-460C-A283-22217A29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203704"/>
            <a:ext cx="405079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Criticality • running hours • condition • failure history • redundancy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B1F65AF-8403-4984-84EA-9E694F3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88920"/>
            <a:ext cx="4343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29BD1C9-A199-434F-8069-F23A8D29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2798064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509A510-40DF-49B4-A251-F2945989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953512"/>
            <a:ext cx="4050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Work Order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79B83C8-B84E-44CB-AAE1-B13AC396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300984"/>
            <a:ext cx="405079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Permit/risk/evidence/verifier olmadan kritik iş “tamamlandı” sayılamaz.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11E5B99-D490-43F1-8E1C-BE6B560D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886200"/>
            <a:ext cx="4343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71F86B5-B2DA-445D-9B96-5972F55A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3895344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003ADBE-EB53-4F4A-A714-44696AB6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050792"/>
            <a:ext cx="4050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Critical Spares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B194B54-EA86-4DED-A5AC-A422D3E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98264"/>
            <a:ext cx="405079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Minimum qty + stock + reorder + asset risk; eksik kritik yedek Safety Readiness’i düşürür.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CC9C9E4-BBFD-4CD5-AF1C-8AEABAF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983480"/>
            <a:ext cx="4343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474058C-FFC0-4A36-BB1D-E1B92A52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992624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939CE98-D3CE-49DD-B8AB-7AECF60F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148072"/>
            <a:ext cx="4050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Class / Survey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024F7CF-0555-4AEC-A73A-B673A9F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495544"/>
            <a:ext cx="405079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Defect, PMS ve survey evidence aynı equipment lineage içinde.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BC457D-8CC1-4599-BF2C-8C5307B3C83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31731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4FB12A-FB8E-4302-8D14-4C180D9F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Safety &amp; Learning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42BCD8-2356-47AF-8EB1-A3745A58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Event → immediate action → evidence → investigation → barrier/root cause → action → effectiveness → lesson.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0B0EF18-354C-4DE2-9D86-6EFF57C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6501384" cy="4443984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CE8DC04F-5BD0-414B-BB79-BCDC8A75A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c0ae3ae0f425b"/>
          <a:srcRect xmlns:a="http://schemas.openxmlformats.org/drawingml/2006/main" l="4102" t="0" r="4102" b="0"/>
          <a:stretch xmlns:a="http://schemas.openxmlformats.org/drawingml/2006/main"/>
        </p:blipFill>
        <p:spPr>
          <a:xfrm xmlns:a="http://schemas.openxmlformats.org/drawingml/2006/main">
            <a:off x="594360" y="1645920"/>
            <a:ext cx="6446520" cy="438912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5381F6-A007-4CE9-B726-630850B7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691640"/>
            <a:ext cx="431596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463AAEF-31B9-4339-9F29-A2B9A75B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1700784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CCFC84F-086F-41C9-856B-29F8C368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56232"/>
            <a:ext cx="4023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HSE bağımsız domain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7D055C-1D11-49D8-9402-45D6AFF4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203704"/>
            <a:ext cx="402336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Quality/CAPA altına gömülmez; PTW, risk, PPE, observations, stop-work, contractor safety.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FC69BD-A917-47A4-83CB-3A8916D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816352"/>
            <a:ext cx="431596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841776F-4100-4A66-868A-05A4559F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825496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6C4336E-79C2-4313-9892-96138E72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980944"/>
            <a:ext cx="4023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Barrier Health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D707851-B837-4659-8530-2C508D0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328416"/>
            <a:ext cx="402336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Preventive / mitigating barriers Healthy • Degraded • Failed olarak izlenir.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23BEDC2-1CA5-4856-954A-0285FE6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941064"/>
            <a:ext cx="431596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4A90E58-E26C-4D39-9D8D-2194EE0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950208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BA43624-7820-4350-BEAA-A7B395FF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105656"/>
            <a:ext cx="4023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Learning Loop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84DF2F0-7204-4801-8D69-23AFA07D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453128"/>
            <a:ext cx="402336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Bir gemideki lesson → fleet notice/procedure/training → acknowledgement → effectiveness.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0C23388-F847-4ECD-9C48-48456E0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5065776"/>
            <a:ext cx="431596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ADF3BB9-6A86-4606-9DBB-22D99228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5074920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B547EE3-AD2E-45F8-85AC-21148B05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230368"/>
            <a:ext cx="4023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Protected Reporting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54C54EB-802C-47DB-B305-CEBE3E9E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577840"/>
            <a:ext cx="402336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Confidential/anonymous workflow, restricted reviewer ve minimum-data principle.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7342305-729B-46EC-A191-A8994F0C04E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1316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3897BE-7F4E-4A30-BE85-C297613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Dynamic Applicability Engine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F8AE74-D153-4657-BDBB-830858D6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Regülasyon deposu değil: belirli gemi/römorkör + operasyon + tarih için aktif kontrolü hesaplayan karar altyapısı.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084D63-B547-4859-A126-F7713FC7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7004304" cy="4535424"/>
          </a:xfrm>
          <a:prstGeom xmlns:a="http://schemas.openxmlformats.org/drawingml/2006/main" prst="roundRect">
            <a:avLst>
              <a:gd name="adj" fmla="val 1210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369CE032-391F-4797-B91D-2E5E462DA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8f5b3c25f45d0"/>
          <a:srcRect xmlns:a="http://schemas.openxmlformats.org/drawingml/2006/main" l="1531" t="0" r="1531" b="0"/>
          <a:stretch xmlns:a="http://schemas.openxmlformats.org/drawingml/2006/main"/>
        </p:blipFill>
        <p:spPr>
          <a:xfrm xmlns:a="http://schemas.openxmlformats.org/drawingml/2006/main">
            <a:off x="594360" y="1627632"/>
            <a:ext cx="6949440" cy="448056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AE22AFE-A4EF-4504-A718-15013CD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719072"/>
            <a:ext cx="376732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7FAC8D9-17DA-44F7-A531-97574A9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1728216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9E8624E-C80D-4738-92F4-8F42D4E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1883664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3-Değerli Mantık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38589E7-F2FB-486D-84DD-811FA607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231136"/>
            <a:ext cx="347472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TRUE • FALSE • UNKNOWN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5A80D06-2FC0-4DF2-B79C-F06C8DB3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724912"/>
            <a:ext cx="376732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EFD9777-7B97-468C-876E-4BB3988F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2734056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44A29A7-1C4B-4012-B615-141FD62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889504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3 Sonuç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F0F644C-4A11-4BD1-9BA8-0C33C08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236976"/>
            <a:ext cx="347472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APPLICABLE • NOT_APPLICABLE • REVIEW_REQUIRED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521C31-ECD7-4744-A919-15AC5F7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730752"/>
            <a:ext cx="376732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7879028-2198-44B5-AFFC-6B411812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3739896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0210EE4-F28B-487B-84A5-4FAD19FD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895344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Girdi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3218E1C-2F2A-40D1-9EEB-54316F7A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242816"/>
            <a:ext cx="347472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Flag • Class • GT/kW • Build • Voyage/Area • Cargo/Job • Equipment • Crew • Tarih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B805C47-BB50-4E70-B433-DB5FB801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736592"/>
            <a:ext cx="376732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846A18B-E031-4A25-A8E9-087C6224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4745736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9ABBF87-9329-42F2-8877-201F10C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901184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Çıktı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B143366-CF30-449C-A526-ADF44C12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5248656"/>
            <a:ext cx="347472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Requirement • Control • Screen/Field • Evidence • Verification • Test • Notification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CFD0B4-DD8F-4888-9E4E-33DD60AC2D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02886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D08EA8-1146-4CAA-9140-2391D4E0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Yasal / Regülatif Kaynak Evreni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63A86C-2689-4414-8B55-3434DF33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Master register “her satır her gemiye uygulanır” listesi değil; Dynamic Applicability için kontrollü source universe.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4F1EC0-AF34-4A06-9791-C3661FBE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201168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3B002FC-3063-41EF-9FA7-262D6A1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79222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43C5EE"/>
                </a:solidFill>
              </a:defRPr>
            </a:defPPr>
            <a:lvl1pPr>
              <a:defRPr>
                <a:solidFill>
                  <a:srgbClr val="43C5EE"/>
                </a:solidFill>
              </a:defRPr>
            </a:lvl1pPr>
            <a:lvl2pPr>
              <a:defRPr>
                <a:solidFill>
                  <a:srgbClr val="43C5EE"/>
                </a:solidFill>
              </a:defRPr>
            </a:lvl2pPr>
            <a:lvl3pPr>
              <a:defRPr>
                <a:solidFill>
                  <a:srgbClr val="43C5EE"/>
                </a:solidFill>
              </a:defRPr>
            </a:lvl3pPr>
            <a:lvl4pPr>
              <a:defRPr>
                <a:solidFill>
                  <a:srgbClr val="43C5EE"/>
                </a:solidFill>
              </a:defRPr>
            </a:lvl4pPr>
            <a:lvl5pPr>
              <a:defRPr>
                <a:solidFill>
                  <a:srgbClr val="43C5EE"/>
                </a:solidFill>
              </a:defRPr>
            </a:lvl5pPr>
            <a:lvl6pPr>
              <a:defRPr>
                <a:solidFill>
                  <a:srgbClr val="43C5EE"/>
                </a:solidFill>
              </a:defRPr>
            </a:lvl6pPr>
            <a:lvl7pPr>
              <a:defRPr>
                <a:solidFill>
                  <a:srgbClr val="43C5EE"/>
                </a:solidFill>
              </a:defRPr>
            </a:lvl7pPr>
            <a:lvl8pPr>
              <a:defRPr>
                <a:solidFill>
                  <a:srgbClr val="43C5EE"/>
                </a:solidFill>
              </a:defRPr>
            </a:lvl8pPr>
            <a:lvl9pPr>
              <a:defRPr>
                <a:solidFill>
                  <a:srgbClr val="43C5EE"/>
                </a:solidFill>
              </a:defRPr>
            </a:lvl9pPr>
          </a:lstStyle>
          <a:p xmlns:a="http://schemas.openxmlformats.org/drawingml/2006/main">
            <a:r>
              <a:rPr>
                <a:solidFill>
                  <a:srgbClr val="43C5EE"/>
                </a:solidFill>
              </a:rPr>
              <a:t>57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FF12E5-1A06-49A4-9F40-73A5464D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148840"/>
            <a:ext cx="17556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Uluslararası</a:t>
            </a:r>
            <a:endParaRPr sz="83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E1FB492-5293-48A7-A58F-569925B0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350008"/>
            <a:ext cx="17556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IMO/ILO sözleşme-kod-guidance</a:t>
            </a:r>
            <a:endParaRPr sz="67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0069A60-3500-407A-8EAD-30370D96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1645920"/>
            <a:ext cx="201168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EA0449-FD6A-4DC1-8BD6-6353E494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179222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55D69E"/>
                </a:solidFill>
              </a:rPr>
              <a:t>41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AD7D08-AA4D-47F8-96A5-016A7736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148840"/>
            <a:ext cx="17556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Türkiye</a:t>
            </a:r>
            <a:endParaRPr sz="83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1ACFC3-E301-49D6-A08C-C33226B2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350008"/>
            <a:ext cx="17556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Kanun/yönetmelik/yönerge/talimat</a:t>
            </a:r>
            <a:endParaRPr sz="67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2C6001-30DF-4A04-89C8-8FD61C8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45920"/>
            <a:ext cx="201168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14B8892-6C92-4222-A4A5-5F294041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79222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8C15D"/>
                </a:solidFill>
              </a:rPr>
              <a:t>13</a:t>
            </a:r>
            <a:endParaRPr sz="2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F01198-FEF1-43C8-9DBB-ED4BCD5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2148840"/>
            <a:ext cx="17556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AB/AEA</a:t>
            </a:r>
            <a:endParaRPr sz="8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4F665AB-35A7-449F-A7FC-B8F5E1DC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2350008"/>
            <a:ext cx="17556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MRV/ETS/FuelEU/GDPR/Cyber/AI</a:t>
            </a:r>
            <a:endParaRPr sz="67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33E9800-6096-47D1-A350-FFA08CA7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645920"/>
            <a:ext cx="201168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F5BF3A4-7799-4AE7-88D1-142CE35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222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B99CFF"/>
                </a:solidFill>
              </a:rPr>
              <a:t>12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2304B4-C772-4C81-A1FB-53F93110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48840"/>
            <a:ext cx="17556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Tug / Industry</a:t>
            </a:r>
            <a:endParaRPr sz="83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85920D0-4EAF-483B-AC43-2DAF7C8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50008"/>
            <a:ext cx="17556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IACS/Class + ISGOTT/SIRE/TMSA</a:t>
            </a:r>
            <a:endParaRPr sz="67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860862-F765-49D6-9038-302A19B2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645920"/>
            <a:ext cx="201168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7CE6408-899B-4682-AB5E-75D22B96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179222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27D7D"/>
                </a:solidFill>
              </a:rPr>
              <a:t>5</a:t>
            </a:r>
            <a:endParaRPr sz="2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A3B42D7-430F-410C-970D-ACFCCE15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2148840"/>
            <a:ext cx="17556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Future / Monitor</a:t>
            </a:r>
            <a:endParaRPr sz="83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E1D24B7-49A3-4373-8E4D-A95B3248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2350008"/>
            <a:ext cx="17556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MLC 2025, IMO net-zero, CRA full etc.</a:t>
            </a:r>
            <a:endParaRPr sz="67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3729B82-B788-4822-AD11-698482FE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71800"/>
            <a:ext cx="35204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7438EB4-6A01-4F1D-9AF1-619319F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980944"/>
            <a:ext cx="45720" cy="2221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5477AAE-66E7-42C0-B900-2A456E8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1363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P0 Kök Kaynaklar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FEBA663-3871-4EB1-8D47-54A5324D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483864"/>
            <a:ext cx="3227832" cy="1636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ISM / SOLAS / STCW / MARPOL / MLC / ISPS / IMDG / Türk ISM / 2024 crew / 2025 tug / KVKK / Cyber / regional rules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5D9A555-5EE9-497A-8EDE-7200A86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35204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44ACFE6-D980-43E9-BD28-B804ECE5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980944"/>
            <a:ext cx="45720" cy="2221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1D1D129-CDB9-4C36-99FB-A674FA8A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1363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Applicability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4D2313D-B6BF-48E6-9FBC-A19D0B94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483864"/>
            <a:ext cx="3227832" cy="1636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Flag + class + vessel type + GT/kW + build + voyage/area + cargo/job + equipment + crew + date + contract.</a:t>
            </a:r>
            <a:endParaRPr sz="8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25FA300-3487-4BBC-B8C0-C5BD7F81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971800"/>
            <a:ext cx="35204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6E964E5-D1ED-46D5-B97F-09DF2361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980944"/>
            <a:ext cx="45720" cy="2221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BF0B4D2-9004-4A38-849C-A0C42C01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1363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Production Legal Gate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918D980-5E71-4E58-B5F6-AF16B489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483864"/>
            <a:ext cx="3227832" cy="1636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Pilot ship/tug actual docs + class/RO + flag/legal SME sign-off olmadan “tam yasal uyum” iddiası yapılmaz.</a:t>
            </a:r>
            <a:endParaRPr sz="82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650784F-313F-4DD7-816B-F63751F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2356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>
                <a:solidFill>
                  <a:srgbClr val="93A9B8"/>
                </a:solidFill>
              </a:rPr>
              <a:t>Master register: POSEIDON_v46.3_Gemi_Romorkor_Master_Yasal_Regulatif_Mevzuat_Register_TR.xlsx</a:t>
            </a:r>
            <a:endParaRPr sz="720"/>
          </a:p>
        </p:txBody>
      </p:sp>
      <p:sp>
        <p:nvSpPr>
          <p:cNvPr id="3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88269CD-4CE9-41A1-A0E4-1C80FFEEDA0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60788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D6712EE-164D-40A9-B810-E5C98F78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Assurance, Class &amp; Certificate Intelligence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F5943E-6C65-4074-9B5C-13C78FF1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Requirement → Certificate → Vessel/Tug → Survey Window → Evidence → Readiness.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129D197-A4C6-4B28-A9AE-F24DA478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64208"/>
            <a:ext cx="6547104" cy="4398264"/>
          </a:xfrm>
          <a:prstGeom xmlns:a="http://schemas.openxmlformats.org/drawingml/2006/main" prst="roundRect">
            <a:avLst>
              <a:gd name="adj" fmla="val 1247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40A43DF9-955A-4E16-82EB-E685FD000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4c64f9b184ab6"/>
          <a:srcRect xmlns:a="http://schemas.openxmlformats.org/drawingml/2006/main" l="3289" t="0" r="3289" b="0"/>
          <a:stretch xmlns:a="http://schemas.openxmlformats.org/drawingml/2006/main"/>
        </p:blipFill>
        <p:spPr>
          <a:xfrm xmlns:a="http://schemas.openxmlformats.org/drawingml/2006/main">
            <a:off x="594360" y="1691640"/>
            <a:ext cx="649224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9946468-A2F6-4FF3-A2BB-73A7BF2F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5648"/>
            <a:ext cx="41605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E8A9CFB-4F4D-43AD-B1DB-BDFA4972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1764792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36CA7D2-468D-48A0-8419-FCFA9A53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20240"/>
            <a:ext cx="3867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Statutory &amp; Class Register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D8FC8B9-A5F2-4ABD-BB79-14E5474B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267712"/>
            <a:ext cx="38679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DOC/SMC • Load Line • MARPOL • MLC • BWM • class status/conditions • BP evidence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01BB427-FA81-4901-89CA-2628B0D4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1216"/>
            <a:ext cx="41605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760E4FA-7334-4BF1-8759-E09BFEE2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2880360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FB63D26-A0AA-4ABF-9015-27451DAC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035808"/>
            <a:ext cx="3867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Survey Planner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9AF9322-EC19-454F-918E-4A6C3F36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383280"/>
            <a:ext cx="38679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Annual/intermediate/special/docking + HSSC windows + equipment-specific survey packs.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49B62F7-38D6-4D85-863F-A4D3C0F3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86784"/>
            <a:ext cx="41605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D45CFAA-B5ED-4863-9959-10B7C3BB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3995928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B4DF57F-FE32-4C5F-9012-FA7CC0E6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151376"/>
            <a:ext cx="3867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PSC / Vetting Memory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B67FCB9-0B5F-418A-A704-1898798E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498848"/>
            <a:ext cx="38679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Deficiency recurrence, root cause, evidence readiness and fleet learning.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B250325-7DA6-4335-9A22-A2EA5AB9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02352"/>
            <a:ext cx="4160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9DEE643-EB08-47CE-8830-2335858C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5111496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D866AF8-7FC9-42AF-A036-4AFEFCE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266944"/>
            <a:ext cx="3867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Audit Pack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AA75230-43B2-417A-A5DA-F2873C0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614416"/>
            <a:ext cx="386791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Requirement → control → evidence → verification export; immutable provenance.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B19F37C-8EA1-46C0-8775-304F2613416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77660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43F4F0-185A-4BCD-BF9B-2E017C3D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Maritime Intelligence ve AI Sınırları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E7CEC7-517B-4E1C-9F13-564269C6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AI chatbot değil; source-aware pattern detection ve decision support.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676336-0E39-4E92-9452-30C5881F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6135624" cy="4443984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937B10EE-3F24-4FA4-B2E1-599DB59B3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33245fd584ba9"/>
          <a:srcRect xmlns:a="http://schemas.openxmlformats.org/drawingml/2006/main" l="6706" t="0" r="6706" b="0"/>
          <a:stretch xmlns:a="http://schemas.openxmlformats.org/drawingml/2006/main"/>
        </p:blipFill>
        <p:spPr>
          <a:xfrm xmlns:a="http://schemas.openxmlformats.org/drawingml/2006/main">
            <a:off x="594360" y="1645920"/>
            <a:ext cx="6080760" cy="438912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154CD3B-CC60-49B2-AD20-24ACA6B3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55648"/>
            <a:ext cx="104927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849058-B900-42A1-88CB-E0C2B9FA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01952"/>
            <a:ext cx="95783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Detect</a:t>
            </a:r>
            <a:endParaRPr sz="7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1D70974-3EEC-4B63-BE91-F0E3A74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722" y="1755648"/>
            <a:ext cx="104927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2EDD57-B71B-4217-95E2-CD213297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442" y="1901952"/>
            <a:ext cx="95783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Explain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F3701B4-85BA-4674-966E-A0C93AA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1724" y="1755648"/>
            <a:ext cx="104927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5EFD472-2902-48F5-AEC4-409D7E61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444" y="1901952"/>
            <a:ext cx="95783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Recommend</a:t>
            </a:r>
            <a:endParaRPr sz="7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1276D81-44F6-4F4D-A622-16C163B3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726" y="1755648"/>
            <a:ext cx="104927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A48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AFD6CA3-5448-4F3E-82A6-C148C6B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446" y="1901952"/>
            <a:ext cx="95783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B99CFF"/>
                </a:solidFill>
              </a:rPr>
              <a:t>Authorized Human Decision</a:t>
            </a:r>
            <a:endParaRPr sz="7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200607C-A511-4AD2-A634-6377DBD7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514600"/>
            <a:ext cx="45262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CC61C34-3BA7-48FF-9668-FAD7FB29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2523744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751A379-555D-425F-A269-B2FEA76E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679192"/>
            <a:ext cx="42336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Source-aware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B72D488-115A-417A-971E-B0730E7C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26664"/>
            <a:ext cx="423367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Her öneri kaynak/kanıt/confidence ve etkilenen control ile açıklanır.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E35FED6-B69B-438E-A834-2B7DD112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20440"/>
            <a:ext cx="45262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FB6545B-57CF-41E5-9D4D-F45DA0EA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3529584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F938570-BD5F-44F4-9925-CE22F68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85032"/>
            <a:ext cx="42336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No silent action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9EB4F06-4DD4-4AFC-B998-4D082C32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032504"/>
            <a:ext cx="423367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AI compliance publish, safety approval, closure veya Master override yapamaz.</a:t>
            </a:r>
            <a:endParaRPr sz="82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D0A18049-63D6-4C45-8ADE-CA361CF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526280"/>
            <a:ext cx="45262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9E92CB2-B6ED-4D57-BB47-5C39B167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4535424"/>
            <a:ext cx="45720" cy="850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4647349-1EB5-4203-9E4D-3A2E5255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690872"/>
            <a:ext cx="42336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Data boundaries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CD8A738-2D6A-4D4F-AB4E-B02B479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038344"/>
            <a:ext cx="423367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Tenant isolation, sensitive crew/reporting minimization, provider/transfer controls.</a:t>
            </a:r>
            <a:endParaRPr sz="82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2A39D1-EE0D-45C5-9188-86CDDD55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532120"/>
            <a:ext cx="452628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E88849C4-430B-4715-AC11-C0720E0D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541264"/>
            <a:ext cx="457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ABB1A8E-7B38-4BB1-B862-7D15498C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696712"/>
            <a:ext cx="42336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Examples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CE43128-75AD-45FD-9A01-9CC6B01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6044184"/>
            <a:ext cx="4233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Repeat steering defect + overdue PMS + near miss + audit finding → systemic risk signal.</a:t>
            </a:r>
            <a:endParaRPr sz="82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A3FE25C-FBE8-4A18-A573-61F8781B8B9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285106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001C98-08CD-4A65-8E82-132662A0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Data &amp; Evidence Architecture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3DA1B6-7C04-477F-8A9D-A78418B2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Operational truth; evidence provenance ve effective-dated master data üzerine kurulur.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A0735F3-454D-47E0-BE12-FD1F237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5204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5AEB107-1599-4919-8212-F583BCF5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0934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C5C001-ED73-42DC-8F5B-FC002EE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7647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Master Data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30FCF14-238E-4C9D-B428-86325796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12264"/>
            <a:ext cx="322783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Company • Vessel/Tug • Asset • Person • Position • Reference</a:t>
            </a:r>
            <a:endParaRPr sz="8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B744A2-1B83-4715-B7A5-8B62741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600200"/>
            <a:ext cx="35204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C8C714D-33BF-4BA7-B578-55271F2A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0934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59071B6-071E-4336-B108-51137986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7647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Operational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869D5AA-A638-43D5-BAD5-FF09DBC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112264"/>
            <a:ext cx="322783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Job • Voyage • Permit • Event • Work Order • Audit</a:t>
            </a:r>
            <a:endParaRPr sz="8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159F739-97F9-4737-A40F-7CDB68B4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600200"/>
            <a:ext cx="35204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57F3D4A-659D-494B-9EFB-E1761922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0934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8031DC-03F4-49D7-A1C0-91E7749C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17647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Compliance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BA8E83-0074-450B-913C-E259F17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112264"/>
            <a:ext cx="322783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Source • Requirement • Rule • Control • Certificate • Survey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DFF66D-3A50-4F09-B918-C78E9D31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5204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D3EA383-7D99-47FF-B1A6-1B9837B7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66674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3790780-9F27-41F8-B128-F17CE71E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221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Evidence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27B8C0F-081C-4C93-B359-5A9273D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169664"/>
            <a:ext cx="322783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Document • Photo • Voice • Measurement • Signature • Hash</a:t>
            </a:r>
            <a:endParaRPr sz="8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82BDD56-92CD-4132-A0D0-82A926D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657600"/>
            <a:ext cx="35204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C845CF0-D328-42FA-8544-5DFE2FCA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66674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7460912-7B3A-4E08-B0F4-0D038706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8221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Decision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8ECFFAD-4A7C-43FC-A085-43F0B0E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169664"/>
            <a:ext cx="322783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Verification • Exception • Master/DPA decision • Effectiveness</a:t>
            </a:r>
            <a:endParaRPr sz="8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E05A81F-2C87-4430-BB5A-768AC853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57600"/>
            <a:ext cx="35204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DBE7C0-46A9-425B-84D0-908C1168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66674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1C1"/>
          </a:solidFill>
          <a:ln xmlns:a="http://schemas.openxmlformats.org/drawingml/2006/main" w="12700">
            <a:solidFill>
              <a:srgbClr val="43D1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2DEE005-2233-48D9-B258-85E58136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82219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Intelligence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FFF754D-B917-4965-A82A-EDC19D42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169664"/>
            <a:ext cx="322783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Why tree • trends • risk clusters • recommendations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F107FAB-2FAB-4A30-BBC9-26C25066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408176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7331EA7-B60E-4B9A-88EB-769DDC76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274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Source</a:t>
            </a:r>
            <a:endParaRPr sz="7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3157E57-5E56-4181-82A1-459BC561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5806440"/>
            <a:ext cx="1408176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0326843-3157-405F-B3E6-449C8357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595274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Requirement</a:t>
            </a:r>
            <a:endParaRPr sz="7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5B944A5-F610-4BD4-917D-2F4F03B2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5806440"/>
            <a:ext cx="1408176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6BC1B1-7CA2-430B-8D5C-171FA4F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595274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Control</a:t>
            </a:r>
            <a:endParaRPr sz="7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15443DFA-6879-4FAA-9E2E-83B2A5AB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5806440"/>
            <a:ext cx="1408176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4CCB7AF-A57A-4987-827A-0578A9B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595274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Operation</a:t>
            </a:r>
            <a:endParaRPr sz="7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81812EC-6AF8-4FFC-8D19-28C2917C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806440"/>
            <a:ext cx="1408176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50724C2-7416-4641-B1BD-52FCA4A4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95274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Evidence</a:t>
            </a:r>
            <a:endParaRPr sz="7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DA0FBB5-7496-4941-8F4F-9D287FC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06440"/>
            <a:ext cx="1408176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410EFE9-77E0-4102-9DA7-9EB60E3E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95274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Verification</a:t>
            </a:r>
            <a:endParaRPr sz="7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05B621D-972A-40D8-858D-B3C981F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104" y="5806440"/>
            <a:ext cx="1408176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A48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80DF2AD-3F6A-4B7E-BD95-75AA7E63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595274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55D69E"/>
                </a:solidFill>
              </a:rPr>
              <a:t>Decision</a:t>
            </a:r>
            <a:endParaRPr sz="75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4E574B6-A317-402A-B43C-F1EF7960993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99495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B9BE9C-6396-4A24-8812-8ADA2CF3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Mobile / Offline-First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4F51B8E-7C19-4AF3-A859-4A2CF095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Shipboard ve tugboard-critical desteklenen akışlarda bağlantı kaybı emniyet bilgisini görünmez yapmaz.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7DAA5A-955E-4DF9-BB3F-114CFEC7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36776"/>
            <a:ext cx="5907024" cy="4398264"/>
          </a:xfrm>
          <a:prstGeom xmlns:a="http://schemas.openxmlformats.org/drawingml/2006/main" prst="roundRect">
            <a:avLst>
              <a:gd name="adj" fmla="val 1247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3DA01DE8-86EC-430C-8DF6-4DCE59B9E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8a300588b4b7a"/>
          <a:srcRect xmlns:a="http://schemas.openxmlformats.org/drawingml/2006/main" l="7895" t="0" r="7895" b="0"/>
          <a:stretch xmlns:a="http://schemas.openxmlformats.org/drawingml/2006/main"/>
        </p:blipFill>
        <p:spPr>
          <a:xfrm xmlns:a="http://schemas.openxmlformats.org/drawingml/2006/main">
            <a:off x="594360" y="1664208"/>
            <a:ext cx="585216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D9C145-CFF4-4EE5-AEF4-7F156D3E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00784"/>
            <a:ext cx="46634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158DA64-DF0A-4B2C-8F1A-C932243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1709928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AE62586-FE3F-4CAA-B78D-B843B1BF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865376"/>
            <a:ext cx="4370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Client UUID + base version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5C96CC9-6AE0-4F27-958C-32A049BF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12848"/>
            <a:ext cx="437083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Offline create/update kayıtları idempotent sync için kendi kimliği ve base version taşır.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20937D1-555C-46D3-B195-6B4E758F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16352"/>
            <a:ext cx="46634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F3BFCEC-3D82-4794-B983-73C774BF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2825496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177A3FD-FF93-4459-B7FE-E8425510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80944"/>
            <a:ext cx="4370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Conflict policy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FB0896-2A1C-4C16-AF63-0841F54D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328416"/>
            <a:ext cx="437083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Material conflict silent last-write-wins kullanmaz; human resolution center’a gider.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787770E-017B-419F-837D-D84FCCA6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931920"/>
            <a:ext cx="46634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8D7EF1E-263D-4425-AC86-05C755D1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941064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B8B8DBC-56FC-4E79-9F9A-F6F59F2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096512"/>
            <a:ext cx="4370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Evidence capture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6034BCF-F3F3-48DC-8AC2-F5A0447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43984"/>
            <a:ext cx="437083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Photo/PDF/voice/measurement/QR; source time/device/user/provenance korunur.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C98E3E7-3A41-4AA4-9735-C418D242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047488"/>
            <a:ext cx="46634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57FD07D-6527-4FB2-B8C1-BC87F81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056632"/>
            <a:ext cx="45720" cy="941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BB64E0A-94AD-4650-8B52-A7352E16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5212080"/>
            <a:ext cx="4370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Critical stale data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0133EA3-D58F-43CF-BD69-7E1C1E03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5559552"/>
            <a:ext cx="437083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Rule/evidence freshness aşılırsa offline istemci false READY üretmez.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1C7F985-5BDB-428F-8E00-21C796871F1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187442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CBA49D-5ACF-4513-A438-9489F59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Integration Hub 2.0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14CE3D-04B6-40B3-86FD-EA6CF491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ERP/HR/Crewing/IoT/Class/RO/AIS gibi sistemlerle adapter + mapping + event + provenance modeli.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701176-DF8B-4E3A-A28B-074EAC6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64208"/>
            <a:ext cx="6181344" cy="4306824"/>
          </a:xfrm>
          <a:prstGeom xmlns:a="http://schemas.openxmlformats.org/drawingml/2006/main" prst="roundRect">
            <a:avLst>
              <a:gd name="adj" fmla="val 1274"/>
            </a:avLst>
          </a:prstGeom>
          <a:solidFill xmlns:a="http://schemas.openxmlformats.org/drawingml/2006/main">
            <a:srgbClr val="071A28">
              <a:alpha val="0"/>
            </a:srgbClr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490BD757-8E5F-417E-99F6-8C5FBA9F1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30066727946c6"/>
          <a:srcRect xmlns:a="http://schemas.openxmlformats.org/drawingml/2006/main" l="4973" t="0" r="4973" b="0"/>
          <a:stretch xmlns:a="http://schemas.openxmlformats.org/drawingml/2006/main"/>
        </p:blipFill>
        <p:spPr>
          <a:xfrm xmlns:a="http://schemas.openxmlformats.org/drawingml/2006/main">
            <a:off x="594360" y="1691640"/>
            <a:ext cx="6126480" cy="425196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16E9EB3-EA24-43FF-86F0-87D5C41C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737360"/>
            <a:ext cx="4480560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00C3C3A-2F6E-4918-AA11-C38F8601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746504"/>
            <a:ext cx="45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D442F17-6E49-419D-B28A-DD362767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901952"/>
            <a:ext cx="4187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Connectors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4A9E6AE-D527-41F1-A002-5B707516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249424"/>
            <a:ext cx="41879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REST/SFTP/file/webhook/queue/IoT adapters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8B8564-E8EA-475C-AA0C-418C7262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724912"/>
            <a:ext cx="4480560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86D10E3-2673-41FD-B571-BE3B584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734056"/>
            <a:ext cx="45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5F1AB6F-39EA-402F-A52E-3A15DEC7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89504"/>
            <a:ext cx="4187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Mapping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D232609-CAFF-4ED2-BF62-A4D4C618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236976"/>
            <a:ext cx="41879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Source schema → canonical entity + validation + transformation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1A5CC04-23EB-4F35-AF6A-35493046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12464"/>
            <a:ext cx="4480560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61DD-9007-4BCE-A3CC-26BA0B4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721608"/>
            <a:ext cx="45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E8EB5E4-71C5-4438-B6BC-538DA0B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877056"/>
            <a:ext cx="4187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Eventing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4B39CF6-4AB1-4828-8456-3CFA1ACB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224528"/>
            <a:ext cx="41879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Outbox/idempotency/retry/dead-letter/correlation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C429544-6482-489E-938C-08856E89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700016"/>
            <a:ext cx="4480560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22AF3E2-5B62-423D-B1F8-A018C21F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4709160"/>
            <a:ext cx="45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62255C6-2B66-465B-A8B4-6C09005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864608"/>
            <a:ext cx="4187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Source of truth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AC2562-5246-4B53-9CFF-F29B3AD5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5212080"/>
            <a:ext cx="41879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Her alan için authoritative source + provenance + reconciliation policy</a:t>
            </a:r>
            <a:endParaRPr sz="8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9DDCDC6-922D-4393-9D1A-6D7D722E5B9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9366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F5EA1F-8864-4CB4-921E-767A4EE0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Development Traceability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8ADA71-A112-4021-A955-EA34CB35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“Ekran tasarımı” değil; requirement’tan teste kadar kontrollü delivery contract. v46.3: 196 ekran / 2.316 field contract.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AE5CF2A-72EA-4D18-8415-EBF34E1C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0020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CC8948-9A0D-49C1-BE12-F96F8CF1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74650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4FC3F7"/>
                </a:solidFill>
              </a:rPr>
              <a:t>196</a:t>
            </a:r>
            <a:endParaRPr sz="2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C301EF-B02E-4877-83A4-88992535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10312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Screen</a:t>
            </a:r>
            <a:endParaRPr sz="83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E473A1-6DA8-4E30-A745-DF706D80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30428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Controlled inventory</a:t>
            </a:r>
            <a:endParaRPr sz="67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E0D0A50-A1B6-4D73-89F1-ED50BEA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F1BE33-21A7-4D95-BD0D-562A71D6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174650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55D69E"/>
                </a:solidFill>
              </a:rPr>
              <a:t>2.316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00232BB-BE05-43EA-A0B0-ABE8A925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210312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Field</a:t>
            </a:r>
            <a:endParaRPr sz="83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37F954A-AC3D-4160-AA66-940C9DF3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230428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Validation/role/offline trace</a:t>
            </a:r>
            <a:endParaRPr sz="67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FA58B7C-11EB-4D07-8D30-088C85E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0020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A73BA4-F5CD-4259-8893-FB1DA12B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174650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8C15D"/>
                </a:solidFill>
              </a:rPr>
              <a:t>128</a:t>
            </a:r>
            <a:endParaRPr sz="2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FEC4C00-A510-4CC6-BD04-52A5DC09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210312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Legal Source</a:t>
            </a:r>
            <a:endParaRPr sz="8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0D7B613-D0D6-4085-9DDA-B5202409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230428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Versioned register</a:t>
            </a:r>
            <a:endParaRPr sz="67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F43A7B2-1599-435A-BA58-5281C49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60020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3F95903-CF37-4055-AB11-929F994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74650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B99CFF"/>
                </a:solidFill>
              </a:rPr>
              <a:t>13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538742-C982-47AD-800F-39B6FBE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10312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Tug Screen</a:t>
            </a:r>
            <a:endParaRPr sz="83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9B26F3B-DCD1-4659-B389-5D490D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30428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First-class mode</a:t>
            </a:r>
            <a:endParaRPr sz="67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B1F408F-9E36-42A2-BB1D-518D0C5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600200"/>
            <a:ext cx="20574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97533B6-91AF-4A07-8C38-DCED804C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46504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27D7D"/>
                </a:solidFill>
              </a:rPr>
              <a:t>P0</a:t>
            </a:r>
            <a:endParaRPr sz="2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95CE3B8-7448-46F5-855E-7D51CB88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2103120"/>
            <a:ext cx="1801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>
                <a:solidFill>
                  <a:srgbClr val="F4F8FB"/>
                </a:solidFill>
              </a:rPr>
              <a:t>Golden Tests</a:t>
            </a:r>
            <a:endParaRPr sz="83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56B555C-E364-4306-B192-F66B7683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2304288"/>
            <a:ext cx="180136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3A9B8"/>
                </a:solidFill>
              </a:rPr>
              <a:t>Critical invariants</a:t>
            </a:r>
            <a:endParaRPr sz="67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10A1D77-F9C6-4C3A-A66A-DCDB682D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0A6035F-E3A0-4275-A44F-1CCE0343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Business Need</a:t>
            </a:r>
            <a:endParaRPr sz="7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2324A47-5C58-4C9E-861B-6C24F97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752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70723CC-B77C-4A52-87C9-A7C4CBA0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472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Requirement</a:t>
            </a:r>
            <a:endParaRPr sz="7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F26D5CA-D0D4-4DEA-AB4C-9979DF4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144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C644DEB-ADFB-41B5-8E3F-F317E4A3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864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Screen</a:t>
            </a:r>
            <a:endParaRPr sz="7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6E207BF-6583-4039-AD95-9EBEA2E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79C565B-DF89-46EF-8A3D-269B3BE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Field</a:t>
            </a:r>
            <a:endParaRPr sz="7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D764E91-606F-415B-BCFE-36509D54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928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99C3E48-2A77-41ED-934B-8B0C38D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648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API</a:t>
            </a:r>
            <a:endParaRPr sz="7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4564CA5-1FC8-420D-AEF9-2C3BF556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20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F7EDE01-953E-422A-AC85-87EEF5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40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Entity</a:t>
            </a:r>
            <a:endParaRPr sz="7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1659C04-FC09-4F13-BEB4-251A0AA5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451AF0B-867D-4471-B16C-FD0E0CB9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FR</a:t>
            </a:r>
            <a:endParaRPr sz="7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1E484BF-8E2B-4BAA-B1A8-23A1013C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04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2008634-96A1-40B2-B758-8C34BA78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824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Test</a:t>
            </a:r>
            <a:endParaRPr sz="7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87F405F-3E96-4691-9081-D8D56BF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496" y="2944368"/>
            <a:ext cx="1121664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A48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70ABE89-0D36-4B51-B094-29DC2DB5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216" y="3090672"/>
            <a:ext cx="1030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4FC3F7"/>
                </a:solidFill>
              </a:rPr>
              <a:t>Evidence</a:t>
            </a:r>
            <a:endParaRPr sz="7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210ED38-C9C3-498B-84AB-2E874BB8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5204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9FDF346-648A-4603-A64C-B0175448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03904"/>
            <a:ext cx="45720" cy="1490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A47A65CA-5EB0-48AA-957F-B5567D07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95935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Definition of Ready</a:t>
            </a:r>
            <a:endParaRPr sz="11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89ED3AD-786B-4178-B101-11C10C5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306824"/>
            <a:ext cx="32278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Scope + actor + states + validations + source + API/entity + offline + audit + acceptance.</a:t>
            </a:r>
            <a:endParaRPr sz="82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1BC0F2A-FF03-42DB-B32E-29B55F0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4760"/>
            <a:ext cx="35204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CA40FEAA-35EC-4064-AD79-B0F1E15F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803904"/>
            <a:ext cx="45720" cy="1490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AD8302B-DAFC-4442-9781-E66A11A8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95935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Definition of Done</a:t>
            </a:r>
            <a:endParaRPr sz="11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F3AFADC-87D5-435F-9334-817870D6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306824"/>
            <a:ext cx="32278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Code + tests + evidence trace + security + performance + accessibility + documentation.</a:t>
            </a:r>
            <a:endParaRPr sz="82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14BBC768-1F8B-4D24-9C62-B948F6EC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94760"/>
            <a:ext cx="35204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C8991718-0625-4635-BA63-8305A0AB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803904"/>
            <a:ext cx="45720" cy="1490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4AD21A0-3D25-4689-813C-D7D096A8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959352"/>
            <a:ext cx="3227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Release Gate</a:t>
            </a:r>
            <a:endParaRPr sz="11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4791551E-A79B-4A43-82F6-74D1D9AA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4306824"/>
            <a:ext cx="32278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No unresolved P0 safety blocker; regulatory review and pilot evidence captured.</a:t>
            </a:r>
            <a:endParaRPr sz="820"/>
          </a:p>
        </p:txBody>
      </p:sp>
      <p:sp>
        <p:nvSpPr>
          <p:cNvPr id="5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55EB57F-13C3-47AA-B7DC-4EF73B08D5B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34541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4DDFD2-F167-4E9C-B8A9-A5E47FAA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Ticari Paketleme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94782E-D02E-40D1-99FD-370EF884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Tek platform; müşterinin operasyon profiline göre modüler satılabilir yapı.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72F420-9521-46B2-8F21-18E79DBE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293031-9C76-4D18-90C3-34DE170A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55064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8ABB1C-48EE-4E7A-9AC4-239B6C5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81051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Core Safety Management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7EA02D-55DB-47E0-9783-07BCE72D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57984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SMS • Safety • Emergency • Events • Controlled Knowledge • Assurance</a:t>
            </a:r>
            <a:endParaRPr sz="8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77A18D-E8BB-4F6C-9BC4-D6C9E9E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645920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DA52ACE-093D-4158-A332-E7047FC9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55064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E8437BE-FA6B-4046-B91B-2F342BF4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81051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Technical / PMS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D2674CF-A7D9-41DE-B55E-B096970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57984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Asset • PMS • Defects • Spares • Condition • Drydock • Reliability</a:t>
            </a:r>
            <a:endParaRPr sz="8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85075EB-3436-417C-8541-F02874E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645920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D9C1042-40BC-4B9D-B029-F4DBE22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655064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26A1897-7194-4935-B7A0-ACDA656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1051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Crew &amp; Competence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EC47569-353E-4997-BABF-3B87E491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57984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Roster • assignment • certificate • training • safe manning • work/rest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E90DDB7-1951-4D77-88D3-EFA75704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49040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D39DE29-DC1C-4A73-B52D-4810E018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758184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95477D3-E5BD-40F2-9BBD-36CBEACE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91363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Tug Operations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C11A1A9-E9EA-4114-95D7-537A3BC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61104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Job board • assignment • readiness • towage plan/briefing/execution</a:t>
            </a:r>
            <a:endParaRPr sz="8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ABB385B-20A2-4E88-95BC-5CFC09D7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749040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024BE90-5E69-408C-A5B3-29A70B0A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758184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79FCC45-C40A-486F-A3CE-65A2F869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91363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Advanced Assurance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E373A06-7185-4706-B06B-2D32DFA2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4261104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PSC/Class/ISM/MLC readiness • evidence packs • management review</a:t>
            </a:r>
            <a:endParaRPr sz="8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AF69DE6-F1C7-4F45-BBD2-801C8FE6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749040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3C98B37-7956-40C1-B447-D8623AE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758184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1C1"/>
          </a:solidFill>
          <a:ln xmlns:a="http://schemas.openxmlformats.org/drawingml/2006/main" w="12700">
            <a:solidFill>
              <a:srgbClr val="43D1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01ACE5-3A16-4153-A18F-0D97922F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91363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Regulatory Intelligence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7135B2-AEC4-43F9-97DB-199A7131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261104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Source governance • applicability • change radar • future sandbox • AI decision support</a:t>
            </a:r>
            <a:endParaRPr sz="82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31DB0F1-1E92-4058-BD19-96B31B00B1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902101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05089E-5711-4CC6-B33C-959D051C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Kim Satın Alır / Kim Kullanır?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67003A-3F5D-464C-8723-72D14D2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Karar vericiye risk görünürlüğü; operasyon ekibine doğru günlük iş; audit tarafına kanıt izi.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BF0C64F-69B7-4A99-835D-2CA2650B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474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B61311-6919-4515-B6C1-C0F39279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5506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760C17-68C5-4D82-975F-7D3D548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1051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CEO / Fleet Manager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F67D2F-FE11-4D44-B3C9-C6717980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57984"/>
            <a:ext cx="318211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Fleet pulse • risk • investment priorities</a:t>
            </a:r>
            <a:endParaRPr sz="8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CFFC1C-7E5C-4C72-B585-A2792BF8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645920"/>
            <a:ext cx="3474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3EB81B6-F5BA-4C64-9E51-64F8F656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5506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96949F-4C78-47C0-952C-24E63442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81051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DPA / HSEQ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4310CD1-234C-4506-8C33-E9C072F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157984"/>
            <a:ext cx="318211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ISM • incidents • audit • regulatory change</a:t>
            </a:r>
            <a:endParaRPr sz="8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67F312E-1798-4200-BE2F-C60041EF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645920"/>
            <a:ext cx="3474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5892993-FC07-49FD-86B5-EB093AD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5506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CF625EA-20A4-4F86-A063-26CCD2F7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181051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Master / Tug Master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9A38787-79CC-4B00-9B71-27D70EFD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157984"/>
            <a:ext cx="318211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Readiness • authority • today actions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6EF7440-AE15-44D0-AD0F-9ECE9795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9040"/>
            <a:ext cx="3474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F72B5C-5CDD-410F-ABA0-8FCDFCCB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75818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8C09027-467A-4BEE-841C-6988E80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1363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Technical Superintendent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52B0038-2F76-4824-8B5C-3FAD516B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61104"/>
            <a:ext cx="318211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PMS • defects • class/survey • spares</a:t>
            </a:r>
            <a:endParaRPr sz="8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B98813C-55B4-4D5B-B5C5-B816D4E0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49040"/>
            <a:ext cx="3474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E2BDB3B-29E0-4F5D-823D-01D0C5CF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5818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19DFE7B-01E2-442E-AFFB-407D68BE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91363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Crewing Manager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C2085E5-D508-4350-8A77-0F7A80BC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261104"/>
            <a:ext cx="318211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eligibility • rotation • training • safe manning</a:t>
            </a:r>
            <a:endParaRPr sz="8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524A7CA-A2DB-4903-8D49-54CAF81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49040"/>
            <a:ext cx="3474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94430B-40F3-4296-A8B6-5863EA62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758184"/>
            <a:ext cx="45720" cy="167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1C1"/>
          </a:solidFill>
          <a:ln xmlns:a="http://schemas.openxmlformats.org/drawingml/2006/main" w="12700">
            <a:solidFill>
              <a:srgbClr val="43D1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CD122F7-EC1E-47E7-ACB5-1E5035F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91363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Auditor / Compliance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76B8E5A-7968-47A6-935B-55A4DD0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261104"/>
            <a:ext cx="3182112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requirement → control → evidence trace</a:t>
            </a:r>
            <a:endParaRPr sz="8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E40D0F2-431B-4CF0-A14D-0397C715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8FB"/>
                </a:solidFill>
              </a:rPr>
              <a:t>Tek veri modeli; role göre farklı günlük yüzey.</a:t>
            </a:r>
            <a:endParaRPr sz="1100"/>
          </a:p>
        </p:txBody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F3E0EF-5B39-456B-973F-A1212C19A27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7239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3B6AEC-C271-4C0E-AB9D-47D36CB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Geliştirme Yol Haritası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7A5530-A63D-47E1-B8BA-5A98C4E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Scope freeze sonrası yeniden analiz yerine kontrollü delivery.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894F7B-B56B-4342-8E78-D0B252AE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D0FF28-1FEA-4F1B-8703-6850B1E8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9072"/>
            <a:ext cx="47548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4F8FB"/>
                </a:solidFill>
              </a:rPr>
              <a:t>0</a:t>
            </a:r>
            <a:endParaRPr sz="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3DC2438-1B5C-46AC-AB45-9C32FA30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572768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Foundation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D8E465-5198-4552-8E5F-F53E948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572768"/>
            <a:ext cx="8686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93A9B8"/>
                </a:solidFill>
              </a:rPr>
              <a:t>Auth/RBAC • tenant • master data • audit • offline shell • rule/evidence core</a:t>
            </a:r>
            <a:endParaRPr sz="88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4C2EFE-AB8D-4E88-88F7-45076CF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075688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1805D1-EE57-43D6-BC3D-1370A390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00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044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CAACE8-4555-42B6-A80A-D8CD1DD0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47548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4F8FB"/>
                </a:solidFill>
              </a:rPr>
              <a:t>1</a:t>
            </a:r>
            <a:endParaRPr sz="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2B0D1F-67B9-4869-ADF5-7E00BF3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322576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Ship Core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7A1779-F568-4682-BEF7-0D91D82D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22576"/>
            <a:ext cx="8686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93A9B8"/>
                </a:solidFill>
              </a:rPr>
              <a:t>Today • crew • PMS • cert • safety • controlled knowledge</a:t>
            </a:r>
            <a:endParaRPr sz="88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1246618-19DD-4114-8564-838CC17C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825496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0A9802-895E-4AC5-96C1-2CE188AD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981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044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920F2B-7873-496B-A47F-0F9D6F4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688"/>
            <a:ext cx="47548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4F8FB"/>
                </a:solidFill>
              </a:rPr>
              <a:t>2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C210C89-CE8B-4EBC-A97E-40A3A25D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072384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Tug Core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6724B3-E896-4C88-9680-8E730624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072384"/>
            <a:ext cx="8686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93A9B8"/>
                </a:solidFill>
              </a:rPr>
              <a:t>Job/assignment/readiness/towage execution + crew/equipment rules</a:t>
            </a:r>
            <a:endParaRPr sz="88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63B2114-2E82-4E92-BD30-E15A148F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575304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7406B08-696B-4763-81B4-3B4C1568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962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044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68D5C14-3BAF-4E2A-A0EE-A6346D43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8496"/>
            <a:ext cx="47548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4F8FB"/>
                </a:solidFill>
              </a:rPr>
              <a:t>3</a:t>
            </a:r>
            <a:endParaRPr sz="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C864226-BC15-4CE9-B1C8-DD9EE3B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22192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Assurance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5AB9410-B18F-4D25-A88A-FD7B9488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822192"/>
            <a:ext cx="8686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93A9B8"/>
                </a:solidFill>
              </a:rPr>
              <a:t>Audit/PSC/Class/ISM/MLC + evidence packs + management review</a:t>
            </a:r>
            <a:endParaRPr sz="88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01B0B72-327F-48E9-B888-DD569CE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325112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E2CCFBF-B585-4256-9D62-BB1852A8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943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044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BD60DF-A356-4FEE-90F4-9074083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8304"/>
            <a:ext cx="47548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4F8FB"/>
                </a:solidFill>
              </a:rPr>
              <a:t>4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EFBD2F4-A37D-40B9-8053-4B389CAD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572000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Intelligence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094E781-1E31-4081-8251-8C9639E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572000"/>
            <a:ext cx="8686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93A9B8"/>
                </a:solidFill>
              </a:rPr>
              <a:t>Why • change radar • risk clusters • AI decision support</a:t>
            </a:r>
            <a:endParaRPr sz="8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B570B90-B1FF-4265-AFE7-D60EFB71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074920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A3C619C-9D0D-49BA-9AB2-D24B1CEA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044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F0EEA07-E1F8-40C2-98E9-81769A5C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8112"/>
            <a:ext cx="47548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4F8FB"/>
                </a:solidFill>
              </a:rPr>
              <a:t>5</a:t>
            </a:r>
            <a:endParaRPr sz="8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D754C26-EB1C-4AE6-82C0-3BDC9FEA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321808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Pilot → Release</a:t>
            </a:r>
            <a:endParaRPr sz="11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766B4F8-6C64-4FD8-AFF2-668C1760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321808"/>
            <a:ext cx="8686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93A9B8"/>
                </a:solidFill>
              </a:rPr>
              <a:t>1 ship + 1 tug / mixed fleet • UAT • legal/class sign-off • release gates</a:t>
            </a:r>
            <a:endParaRPr sz="88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34179ED-15C6-4321-9ADA-B5A7B529B14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173094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51E396-66DD-45BF-BAC7-3D7B6CDE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Pilot, UAT ve Release Gate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454BCF-77C5-4D49-A5C5-9BB973B6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9B8"/>
                </a:solidFill>
                <a:latin typeface="Aptos"/>
                <a:ea typeface="Aptos"/>
                <a:cs typeface="Aptos"/>
              </a:rPr>
              <a:t>Tek ship demo yeterli değil: Gemi + Römorkör dual-mode gerçek veriyle doğrulanacak.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70DFCA7-1AD2-4697-955D-D16E3F78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64208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5E1DD62-1308-47DC-B252-556BE165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73352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9F5C18-5FE8-486C-BF85-46B049F4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828800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Pilot Minimum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F22A45-0E5D-4BEC-9E73-9E46BC44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76272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≥1 gerçek gemi journey + ≥1 gerçek römorkör/towage journey veya gerçek mixed-fleet operator.</a:t>
            </a:r>
            <a:endParaRPr sz="8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6BA0CC-4D3F-4BB5-B1BC-84545164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664208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3018916-EE49-487A-BC9D-AA4B4D5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73352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D99AEC-5C57-495F-9D76-0D055A1E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828800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Evidence Baseline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660109-3863-4E93-A10A-BE6D706F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76272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Certificates • MSMD • crew • class • assets/PMS • SMS/plans • defects • BP/winch/ERS.</a:t>
            </a:r>
            <a:endParaRPr sz="8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2A7B646-D043-40E1-BABF-F24518CA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664208"/>
            <a:ext cx="34747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BFD30EC-E6B0-43CD-BEFC-6EFFA7C0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673352"/>
            <a:ext cx="45720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D7D"/>
          </a:solidFill>
          <a:ln xmlns:a="http://schemas.openxmlformats.org/drawingml/2006/main" w="12700">
            <a:solidFill>
              <a:srgbClr val="F2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5F82938-3E34-4990-B66F-2619E330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P0 Gates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ECE4034-19BA-4A7A-9387-D3C3F264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76272"/>
            <a:ext cx="318211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Master authority • false-green prevention • offline conflicts • regulatory applicability • critical PMS/evidence.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9D5415-2B99-4508-9333-826351EC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7472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F7872EA-6DC5-42EA-9F39-DF606D5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03904"/>
            <a:ext cx="45720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5D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54141E-3D81-4F07-9D5D-C1A4FA1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95935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UAT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2892633-C009-4355-BE3A-4CDC821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306824"/>
            <a:ext cx="3182112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Role-based journeys; exception-first UX; performance/accessibility/security; mobile/offline.</a:t>
            </a:r>
            <a:endParaRPr sz="8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75DF08-2181-4838-88FC-CBCA2AC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794760"/>
            <a:ext cx="347472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B9F15E1-5326-40CC-9B9E-4BA6E733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803904"/>
            <a:ext cx="45720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43ABD5F-8E61-4A85-A24E-B3B1CA8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95935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Legal / Class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672D9E7-9A4A-478C-A144-211C2E52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4306824"/>
            <a:ext cx="3182112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Actual vessel+tug applicability reviewed by flag/class/SME/legal owner.</a:t>
            </a:r>
            <a:endParaRPr sz="8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5EF299-605E-4D98-81FA-29F7499A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794760"/>
            <a:ext cx="347472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0CFB565-D828-43B9-989C-6998CAA4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803904"/>
            <a:ext cx="45720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1C1"/>
          </a:solidFill>
          <a:ln xmlns:a="http://schemas.openxmlformats.org/drawingml/2006/main" w="12700">
            <a:solidFill>
              <a:srgbClr val="43D1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507BA9A-D07F-403B-96BB-AB179630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959352"/>
            <a:ext cx="3182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Release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B0D051B-DBC3-4139-8A7E-F24C7CA3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306824"/>
            <a:ext cx="3182112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No unresolved P0; controlled source versions frozen; audit pack and rollback ready.</a:t>
            </a:r>
            <a:endParaRPr sz="82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519E96-1FB8-4FA4-87B1-3D1B4C11F08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606583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61CEC7-A491-4173-8BB6-90BF4EBA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Controlled Candidate: Eksikler Nasıl Kapatılıyor?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5E8259-349C-47C4-9420-E9D876A9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Rakip benchmark delta’sı Master Spec, PRD/SRS, prototype, traceability, backlog ve test setine işlendi; v46.3 artık kontrollü aday baseline’dır.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35094A-C077-494C-ADC7-77384BC0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Final PPT</a:t>
            </a:r>
            <a:endParaRPr sz="93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A5B5F4C-2508-4225-9939-C568D83F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572768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BU DOSYA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97CF2B2-FA77-48E6-BE7C-C5B4DC6E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545336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37FB4C-0C25-4C89-B41C-F27C3BB0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1609344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55D69E"/>
                </a:solidFill>
              </a:rPr>
              <a:t>CLOSED</a:t>
            </a:r>
            <a:endParaRPr sz="7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EEE93CF-A2C8-4366-B0AA-D9E1867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83664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7BBEB9-2212-4CF8-8347-087A87DE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Product-wide ERD</a:t>
            </a:r>
            <a:endParaRPr sz="93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84788E-7FC2-492F-83A1-A2452704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139696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Yeni doküman + ERD diagram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5F2BF71-CBFE-4118-AD45-511C67C7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112264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5B2BA-92E2-4D27-8A9D-021A5E3A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2176272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55D69E"/>
                </a:solidFill>
              </a:rPr>
              <a:t>CLOSED</a:t>
            </a:r>
            <a:endParaRPr sz="7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832D447-028B-481B-BB74-727DC4C9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50592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79F8818-E604-4BD9-B1A5-F6A68617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06624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API / Integration Spec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0E9F524-C81E-4032-B56D-4A5447D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706624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Yeni docx + OpenAPI/catalog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4F331A7-599D-4964-B58F-29B4B155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679192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C3C38F6-0ED1-4484-9373-46212D43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2743200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55D69E"/>
                </a:solidFill>
              </a:rPr>
              <a:t>CLOSED</a:t>
            </a:r>
            <a:endParaRPr sz="7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708839A-F2B4-4405-B7DD-F158DC9A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200D757-7D03-4E66-BE51-48212B28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73552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196 ekran görselli katalog</a:t>
            </a:r>
            <a:endParaRPr sz="93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024B8EA-6040-425E-B767-536444BE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73552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Yeni 196 screenshot manual</a:t>
            </a:r>
            <a:endParaRPr sz="8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36674B-E3DB-4295-A672-0782A7C1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246120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8EAA3E-387D-4F51-A6E6-5FA775D0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3310128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55D69E"/>
                </a:solidFill>
              </a:rPr>
              <a:t>CLOSED</a:t>
            </a:r>
            <a:endParaRPr sz="7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C967612-41B9-4C1E-A4C5-69B7D0AD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84448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0D1358E-BF92-4840-B4ED-E645A88B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AI Governance + Data Strategy</a:t>
            </a:r>
            <a:endParaRPr sz="93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69F300B-9633-4B98-B590-57C18C3D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840480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Yeni controlled policy</a:t>
            </a:r>
            <a:endParaRPr sz="8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FC65BCD-4A50-431E-8284-9490C297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813048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EA7A004-2E90-44C2-A1D9-34F6CCD9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3877056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55D69E"/>
                </a:solidFill>
              </a:rPr>
              <a:t>CLOSED</a:t>
            </a:r>
            <a:endParaRPr sz="7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9DF2934-17F7-4D8E-85CE-3FC8F5A6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51376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D6753E0-D1F5-472B-9D76-F3E32617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07408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External legal/class sign-off</a:t>
            </a:r>
            <a:endParaRPr sz="93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1299130-8D1B-479B-9638-E4DB8086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407408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Template + checklist hazır</a:t>
            </a:r>
            <a:endParaRPr sz="8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55D5023-29D4-47DA-B676-55213B0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379976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F8C1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379B7B1-F941-4B28-96FB-4428FC1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4443984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F8C15D"/>
                </a:solidFill>
              </a:rPr>
              <a:t>EXTERNAL</a:t>
            </a:r>
            <a:endParaRPr sz="7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FD1F34F-2158-484F-A10E-350ED7DE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7B0FF1E-76C4-4A5B-B05B-C2EB938D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74336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Real pilot data reconciliation</a:t>
            </a:r>
            <a:endParaRPr sz="93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E4FFD31-E067-4D11-857C-DF1CDB7E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974336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Workbook/template hazır</a:t>
            </a:r>
            <a:endParaRPr sz="8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4307087-A685-4E15-A755-EEE956A3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946904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2868434-2BC7-4E36-84A5-D73C9F55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5010912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B99CFF"/>
                </a:solidFill>
              </a:rPr>
              <a:t>CUSTOMER DATA</a:t>
            </a:r>
            <a:endParaRPr sz="7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B759E93-D0B5-4047-8077-36B02760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2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0722B0F-4C90-4DA1-873E-CA61A841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41264"/>
            <a:ext cx="3017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1">
                <a:solidFill>
                  <a:srgbClr val="F4F8FB"/>
                </a:solidFill>
              </a:rPr>
              <a:t>CI build / live DB gate</a:t>
            </a:r>
            <a:endParaRPr sz="93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1582F63-B89A-420D-B5A6-7C915B1E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5541264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3A9B8"/>
                </a:solidFill>
              </a:rPr>
              <a:t>Checklist/scripts hazır</a:t>
            </a:r>
            <a:endParaRPr sz="8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734E922-0FCF-4AA7-AA64-D323C65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5513832"/>
            <a:ext cx="150876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637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FEADB9B-D858-4658-833E-2075F2C2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5577840"/>
            <a:ext cx="1362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B99CFF"/>
                </a:solidFill>
              </a:rPr>
              <a:t>ENGINEERING</a:t>
            </a:r>
            <a:endParaRPr sz="72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281BA18A-6908-4808-9824-90A531A2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133A497-83A4-4F8B-AAC1-728669E64E5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57857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2467A0A-E9ED-4E46-90C9-D2267EE4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Karar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9EDCE4-A3CD-4415-B387-46A15EFF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18872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v46.3 controlled candidate onaya hazır. PO/Marine SME/Regulatory/Engineering/QA sign-off sonrası geliştirme baseline’ı olarak dondurulur.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BC296CA-6577-4384-B8CB-8E6B49FA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10698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55D69E"/>
                </a:solidFill>
                <a:latin typeface="Aptos Display"/>
                <a:ea typeface="Aptos Display"/>
                <a:cs typeface="Aptos Display"/>
              </a:rPr>
              <a:t>Geliştirmeye geç.</a:t>
            </a:r>
            <a:endParaRPr sz="3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13A0FC-D9A6-4D02-BF4A-4FB090FE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32304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4F8FB"/>
                </a:solidFill>
              </a:rPr>
              <a:t>Tek Platform • İki Mod • Tek Kaynak İzi • İnsan Otoritesi</a:t>
            </a: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7AB88B3-A3F7-42A2-9035-A0D97065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9CA20C3-B9BC-4561-B5F5-4607AC63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Requirement</a:t>
            </a:r>
            <a:endParaRPr sz="7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6C69E5-E57B-407A-B891-DA9F1E1A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966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5A6BCEE-0DF2-4842-ADC8-F472BE46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686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Applicability</a:t>
            </a:r>
            <a:endParaRPr sz="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92087CA-097A-4E32-BB79-FA8D57F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852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C3778C0-5929-4760-B98E-B869B5A9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572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Control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F06FB67-C80E-4B5F-9947-72C4A31B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738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E511F0-24E5-4A5D-9CF4-59C0D1BE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58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Operation</a:t>
            </a:r>
            <a:endParaRPr sz="7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0B794F2-C511-4456-AF46-AA82CFE1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69956C-A64F-4C22-84E5-091E9679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Evidence</a:t>
            </a:r>
            <a:endParaRPr sz="7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4042A72-95B8-4F82-9DEE-979DDAA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DD1B10C-E34B-400E-9972-4D3810F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Verification</a:t>
            </a:r>
            <a:endParaRPr sz="7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345964B-F690-4102-9FCB-56385020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396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2C5980-6FC6-467A-B39F-AC299133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116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4F8FB"/>
                </a:solidFill>
              </a:rPr>
              <a:t>Human Decision</a:t>
            </a:r>
            <a:endParaRPr sz="7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429EBEE-ED02-499D-BDCB-DF6F22A9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282" y="3291840"/>
            <a:ext cx="1264158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A48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817FBD7-7E5D-4B24-916E-7C02AB76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002" y="3438144"/>
            <a:ext cx="117271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4FC3F7"/>
                </a:solidFill>
              </a:rPr>
              <a:t>Learning</a:t>
            </a:r>
            <a:endParaRPr sz="7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C3E8BF2-35D7-461A-904C-D4D9C85F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30175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9453F79-002B-4539-A3F9-629F1A6E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261104"/>
            <a:ext cx="45720" cy="1216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12700">
            <a:solidFill>
              <a:srgbClr val="4FC3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C91921F-E0EF-4BA4-9E18-E8AE3A35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16552"/>
            <a:ext cx="2724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GEMİ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18AEED-931A-478B-A106-38AA2485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764024"/>
            <a:ext cx="272491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Safety + Crew + Technical + Assurance</a:t>
            </a:r>
            <a:endParaRPr sz="8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1AE4781-8537-429A-A383-B107D889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51960"/>
            <a:ext cx="30175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5F57DBC-9926-40A7-8B2D-88E4F34E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261104"/>
            <a:ext cx="45720" cy="1216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12700">
            <a:solidFill>
              <a:srgbClr val="B99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F21296C-9862-4618-800C-05A380D0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416552"/>
            <a:ext cx="2724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RÖMORKÖR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12FC384-A0BB-4151-992E-7FDD608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764024"/>
            <a:ext cx="272491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Job + Assignment + Readiness + Towage</a:t>
            </a:r>
            <a:endParaRPr sz="8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FBEFF7E-88E4-45E4-84A3-8D90FCB1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251960"/>
            <a:ext cx="30175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2536"/>
          </a:solidFill>
          <a:ln xmlns:a="http://schemas.openxmlformats.org/drawingml/2006/main" w="12700">
            <a:solidFill>
              <a:srgbClr val="153E5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59B2D10-D18E-42B2-B351-52552E9C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4261104"/>
            <a:ext cx="45720" cy="1216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12700">
            <a:solidFill>
              <a:srgbClr val="55D6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6118D9-32EE-47BA-B64F-7C889EB9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416552"/>
            <a:ext cx="2724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4F8FB"/>
                </a:solidFill>
              </a:rPr>
              <a:t>ORTAK ÇEKİRDEK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A5C1843-3945-4E6C-BACA-F6910491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764024"/>
            <a:ext cx="272491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9B8"/>
                </a:solidFill>
              </a:rPr>
              <a:t>Regulatory + Evidence + Decision + Learning</a:t>
            </a:r>
            <a:endParaRPr sz="82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E9343F6-621F-4164-8E93-2A37FB3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97880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FC3F7"/>
                </a:solidFill>
              </a:rPr>
              <a:t>POSEIDON v46.3 — Controlled Candidate Candidate</a:t>
            </a:r>
            <a:endParaRPr sz="12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FF7F508-C50B-4626-8FD6-8CA9ABF34EC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67160" y="6528816"/>
            <a:ext cx="320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17169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52FEF43-8BE4-4BF4-98DA-55B86731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881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6FAFC"/>
                </a:solidFill>
              </a:defRPr>
            </a:pPr>
            <a:r>
              <a:t>NOZZLE Benchmark → Ürün Kararı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18ED28-CF1B-4600-B367-5B77BC2A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24128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AAC2CF"/>
                </a:solidFill>
              </a:defRPr>
            </a:pPr>
            <a:r>
              <a:t>Rakibi kopyalamak yerine doğru boşlukları kapatıp farklılaştırıcı çekirdeği büyütüyoruz.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D09717-4190-4D68-A6F7-EEB657B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17320"/>
            <a:ext cx="10515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40115A4-B733-4E48-8300-45714A6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338328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8532D9-6B38-4A7D-9B4A-54ECA1E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856232"/>
            <a:ext cx="2980944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44B4B"/>
                </a:solidFill>
              </a:defRPr>
            </a:pPr>
            <a:r>
              <a:t>AL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NOZZLE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Rakip güçlü: Ship Operations, PMS/Survey, mobile execution, ERP breadth.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6F8DA59-7602-4070-BDD0-84EDB957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91640"/>
            <a:ext cx="338328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34E5083-6D11-4861-BC9F-E9134FD5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56232"/>
            <a:ext cx="2980944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A57D"/>
                </a:solidFill>
              </a:defRPr>
            </a:pPr>
            <a:r>
              <a:t>KORU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POSEIDON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Tug lifecycle + Applicability + Readiness/Why + Evidence/Human Decision.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713BC1A-50A9-46CE-80FA-36E0E9CB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691640"/>
            <a:ext cx="338328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61A4610-6DCE-4638-93D5-DDD617C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856232"/>
            <a:ext cx="2980944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39737"/>
                </a:solidFill>
              </a:defRPr>
            </a:pPr>
            <a:r>
              <a:t>SINIR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OUT / INTEGRATE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Finance, payroll, full procurement, warehouse, chartering ve Port OS build edilmiyor.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0222429-66B1-4667-8527-B46FE73D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52120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75CA95D-D9B8-4CD6-9EBE-C3CF9047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005072"/>
            <a:ext cx="4809744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v46.3 Delta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+11 ekran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Noon, Deck/Engine Daily Logs, Fuel/BDN/ROB, SOF, Downtime; Service Report, Pre-Survey, Risk Templates/High-Risk Work.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7E55CF5-EF5F-4646-9507-929B1858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40480"/>
            <a:ext cx="52120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7ED608-48D2-478A-94D6-11A5E56F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005072"/>
            <a:ext cx="4809744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A57D"/>
                </a:solidFill>
              </a:defRPr>
            </a:pPr>
            <a:r>
              <a:t>Controlled Inventory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196 ekran • 2.316 alan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Rakip analizi sonucunda yeni business capability’ler trace, field, API ve test contract’ına işlendi.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FB12745-DAAD-4D51-B3F9-ED4C2B8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6473952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50">
                <a:solidFill>
                  <a:srgbClr val="AAC2CF"/>
                </a:solidFill>
              </a:defRPr>
            </a:pPr>
            <a:r>
              <a:t>POSEIDON v46.3 • 27</a:t>
            </a:r>
          </a:p>
        </p:txBody>
      </p:sp>
    </p:spTree>
    <p:extLst>
      <p:ext uri="{BB962C8B-B14F-4D97-AF65-F5344CB8AC3E}">
        <p14:creationId xmlns:p14="http://schemas.microsoft.com/office/powerpoint/2010/main" val="786904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7794A64-4B79-43DE-B3D8-E3437C1D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881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6FAFC"/>
                </a:solidFill>
              </a:defRPr>
            </a:pPr>
            <a:r>
              <a:t>Ship Operations 2.0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507F85-005D-43BB-AFB2-A7FE052A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24128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AAC2CF"/>
                </a:solidFill>
              </a:defRPr>
            </a:pPr>
            <a:r>
              <a:t>NOZZLE’dan alınan en önemli ders: günlük veriyi tek kez gir, voyage/technical/compliance/readiness boyunca yeniden kullan.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E29542D-21D4-4C79-B0CE-74EC15A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17320"/>
            <a:ext cx="10515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881FFD7-43E3-4559-8F05-69A3A363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147BBF-95C8-40B2-BB76-FAE96617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901952"/>
            <a:ext cx="3026664" cy="118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Noon Report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Position • activity • weather • speed • fuel/ROB • Master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98612CB-6E53-49C9-82EB-40AFD127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736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EDC7CFB-171F-4E4D-8874-B48293EF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01952"/>
            <a:ext cx="3026664" cy="118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Deck Daily Log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Watch • nav • pilot/tug • port/cargo • handover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7E74A8E-56A3-4021-9F4F-FB84238A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9" y="173736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57F2547-997C-4701-8D3C-A77083B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901952"/>
            <a:ext cx="3026664" cy="118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Engine Daily Log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Hours • fuel/lube • measurements • alarms • defects/WO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A0FBE6F-47CA-471D-8A6F-F604D97A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79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FC244DE-64B9-4F5E-85D3-B79DB42F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776472"/>
            <a:ext cx="3026664" cy="118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Fuel / Bunker / BDN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Consumption • delivery/transfer • ROB • sulphur • evidence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43AF679-2564-4D77-A8CC-9ACD070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1879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8FF0D6F-7B15-44F1-851D-789DBAA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776472"/>
            <a:ext cx="3026664" cy="118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Port Activity / SOF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Timestamp timeline • delays • cargo • Letter of Protest — Port OS değil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707CAC7-B475-4147-BD5F-BDA4FE7A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9" y="3611879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50E16F7-F752-467B-8E30-9C8419EB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776472"/>
            <a:ext cx="3026664" cy="118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Operational Downtime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Cause • defect/WO/event • impact • Loss-of-Hire candidate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6947C9C-D5F3-48BE-86C2-E08D5ADD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6473952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50">
                <a:solidFill>
                  <a:srgbClr val="AAC2CF"/>
                </a:solidFill>
              </a:defRPr>
            </a:pPr>
            <a:r>
              <a:t>POSEIDON v46.3 • 28</a:t>
            </a:r>
          </a:p>
        </p:txBody>
      </p:sp>
    </p:spTree>
    <p:extLst>
      <p:ext uri="{BB962C8B-B14F-4D97-AF65-F5344CB8AC3E}">
        <p14:creationId xmlns:p14="http://schemas.microsoft.com/office/powerpoint/2010/main" val="9578579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AC3F46E-98C6-4F89-8D12-2CDF11C5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881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6FAFC"/>
                </a:solidFill>
              </a:defRPr>
            </a:pPr>
            <a:r>
              <a:t>Neyi Kopyalamıyoruz? Neyi Daha Derin Yapıyoruz?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76C0BC-2015-4421-8DB7-6F880211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24128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AAC2CF"/>
                </a:solidFill>
              </a:defRPr>
            </a:pPr>
            <a:r>
              <a:t>Ürün odağı: maritime ERP breadth değil, güvenli operasyon karar derinliği.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2CB6C4-312E-470F-95AE-BAA1FA9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17320"/>
            <a:ext cx="10515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CB41FF1-9DB5-4740-84BD-A98947D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521208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BEF55B-9ACA-4AC2-929E-1050A9A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901952"/>
            <a:ext cx="4809744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44B4B"/>
                </a:solidFill>
              </a:defRPr>
            </a:pPr>
            <a:r>
              <a:t>BİLİNÇLİ KAPSAM DIŞI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• Full finance / AP-AR / budget / FX</a:t>
            </a:r>
            <a:br/>
            <a:r>
              <a:t>• Crew payroll / expenses</a:t>
            </a:r>
            <a:br/>
            <a:r>
              <a:t>• Full RFQ / PO / supplier lifecycle</a:t>
            </a:r>
            <a:br/>
            <a:r>
              <a:t>• Enterprise warehouse</a:t>
            </a:r>
            <a:br/>
            <a:r>
              <a:t>• Full chartering</a:t>
            </a:r>
            <a:br/>
            <a:r>
              <a:t>• Port / terminal / berth / VTS management</a:t>
            </a:r>
            <a:br/>
            <a:br/>
            <a:r>
              <a:t>Müşteride varsa adapter/connector ile entegre edilir.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7A34437-8A7A-4563-8FE2-AFF253A1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21208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AC208AB-DE8F-42A4-844E-F226027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1901952"/>
            <a:ext cx="4809744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A57D"/>
                </a:solidFill>
              </a:defRPr>
            </a:pPr>
            <a:r>
              <a:t>ANA WEDGE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• Dedicated Tug Operations</a:t>
            </a:r>
            <a:br/>
            <a:r>
              <a:t>• Dynamic Applicability</a:t>
            </a:r>
            <a:br/>
            <a:r>
              <a:t>• UNKNOWN → REVIEW_REQUIRED</a:t>
            </a:r>
            <a:br/>
            <a:r>
              <a:t>• Readiness + Why tree</a:t>
            </a:r>
            <a:br/>
            <a:r>
              <a:t>• Barrier health + effectiveness</a:t>
            </a:r>
            <a:br/>
            <a:r>
              <a:t>• Evidence → Verification → Human Decision</a:t>
            </a:r>
            <a:br/>
            <a:r>
              <a:t>• Offline durable queue + conflict center</a:t>
            </a:r>
            <a:br/>
            <a:r>
              <a:t>• Human-gated 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B956F98-8A86-4AE6-BB57-1961F7C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6473952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50">
                <a:solidFill>
                  <a:srgbClr val="AAC2CF"/>
                </a:solidFill>
              </a:defRPr>
            </a:pPr>
            <a:r>
              <a:t>POSEIDON v46.3 • 29</a:t>
            </a:r>
          </a:p>
        </p:txBody>
      </p:sp>
    </p:spTree>
    <p:extLst>
      <p:ext uri="{BB962C8B-B14F-4D97-AF65-F5344CB8AC3E}">
        <p14:creationId xmlns:p14="http://schemas.microsoft.com/office/powerpoint/2010/main" val="129578057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7D12F55-BE50-425F-A5B7-70FB6FEF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881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6FAFC"/>
                </a:solidFill>
              </a:defRPr>
            </a:pPr>
            <a:r>
              <a:t>v46.3 Controlled Candidate — Go / No-Go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18E21F-1BE3-4CDD-8F5F-5A03FE8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24128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AAC2CF"/>
                </a:solidFill>
              </a:defRPr>
            </a:pPr>
            <a:r>
              <a:t>Bu sürüm “rakipte var” diye değil, business value + traceability + safety authority doğrulandığında freeze edilir.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470B2A3-815D-4A9E-BF48-2A554C7F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17320"/>
            <a:ext cx="10515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2E13273-8EAC-4742-B6BB-973DBDA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3736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6F3E038-C3C5-4C2E-B7AC-538DB772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01952"/>
            <a:ext cx="2935224" cy="1023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A57D"/>
                </a:solidFill>
              </a:defRPr>
            </a:pPr>
            <a:r>
              <a:t>PRODUCT / BA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BEKLİYOR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196 ekran / 2.316 alan doğrulandı. Açık sözleşme ve veri eşleme kapıları sürüyor.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7D3973C-7EA7-479D-83AE-67AFFB61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3736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755037-DDA8-4DF1-8E89-9B5A13B7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7" y="1901952"/>
            <a:ext cx="2935224" cy="1023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7AA1"/>
                </a:solidFill>
              </a:defRPr>
            </a:pPr>
            <a:r>
              <a:t>ENGINEERING / QA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BEKLİYOR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E2E, non-regression, güvenlik ve offline testlerinin yürütme kanıtı bekleniyor.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4066F7E-90FD-4958-8E26-BC68E354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73736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D9D8BE-CEF6-4BB2-88CD-A65BF6CA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901952"/>
            <a:ext cx="2935224" cy="1023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39737"/>
                </a:solidFill>
              </a:defRPr>
            </a:pPr>
            <a:r>
              <a:t>MARINE / REGULATORY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BEKLİYOR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Gerçek gemi+römorkör UAT ve flag/class/legal onayları bekleniyor.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6E9CBA2-738A-4FFE-8791-3221EBC4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069080"/>
            <a:ext cx="85039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737"/>
          </a:solidFill>
          <a:ln xmlns:a="http://schemas.openxmlformats.org/drawingml/2006/main">
            <a:solidFill>
              <a:srgbClr val="234F6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7E4EDE-A2A1-41E5-9E95-A7093534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4233672"/>
            <a:ext cx="8101584" cy="886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A57D"/>
                </a:solidFill>
              </a:defRPr>
            </a:pPr>
            <a:r>
              <a:t>Karar durumu</a:t>
            </a:r>
          </a:p>
          <a:p xmlns:a="http://schemas.openxmlformats.org/drawingml/2006/main">
            <a:pPr>
              <a:spcBef>
                <a:spcPts val="500"/>
              </a:spcBef>
              <a:buNone/>
              <a:defRPr sz="2200" b="1">
                <a:solidFill>
                  <a:srgbClr val="F6FAFC"/>
                </a:solidFill>
              </a:defRPr>
            </a:pPr>
            <a:r>
              <a:t>ONAY BEKLİYOR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900">
                <a:solidFill>
                  <a:srgbClr val="F6FAFC"/>
                </a:solidFill>
              </a:defRPr>
            </a:pPr>
            <a:r>
              <a:t>Yetkili imzalar ve açık kapıların kapanması sonrası geliştirme kararı verilir. Bu sunum, üretim veya hukuki uygunluk onayı değildir.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F3BE828-5E32-4ADD-854F-23253FD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6473952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50">
                <a:solidFill>
                  <a:srgbClr val="AAC2CF"/>
                </a:solidFill>
              </a:defRPr>
            </a:pPr>
            <a:r>
              <a:t>POSEIDON v46.3 • 30</a:t>
            </a:r>
          </a:p>
        </p:txBody>
      </p:sp>
    </p:spTree>
    <p:extLst>
      <p:ext uri="{BB962C8B-B14F-4D97-AF65-F5344CB8AC3E}">
        <p14:creationId xmlns:p14="http://schemas.microsoft.com/office/powerpoint/2010/main" val="9295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2026-10-27T11:29:34.3050000Z</dcterms:created>
  <dcterms:modified xsi:type="dcterms:W3CDTF">2026-10-27T11:29:34.3050000Z</dcterms:modified>
</coreProperties>
</file>