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5-1.jpg" ContentType="image/jpg"/>
  <Override PartName="/ppt/media/image-16-1.jpg" ContentType="image/jpg"/>
  <Override PartName="/ppt/media/image-18-1.jpg" ContentType="image/jpg"/>
  <Override PartName="/ppt/media/image-19-1.jpg" ContentType="image/jpg"/>
  <Override PartName="/ppt/media/image-6-1.jpg" ContentType="image/jpg"/>
  <Override PartName="/ppt/media/image-7-1.jpg" ContentType="image/jpg"/>
  <Override PartName="/ppt/media/image-7-2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33"/>
    <p:sldId id="283" r:id="rId34"/>
    <p:sldId id="284" r:id="rId35"/>
    <p:sldId id="285" r:id="rId36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EIDON">
    <p:bg>
      <p:bgPr>
        <a:solidFill>
          <a:srgbClr val="07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B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POSEIDON v46.2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75520" y="1645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GEMİ + RÖMORKÖR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429768"/>
            <a:ext cx="11548872" cy="0"/>
          </a:xfrm>
          <a:prstGeom prst="line">
            <a:avLst/>
          </a:prstGeom>
          <a:noFill/>
          <a:ln w="12700">
            <a:solidFill>
              <a:srgbClr val="1534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65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Candidate • 5 Ekim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430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POSEIDON v46.3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2648" y="18745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D9EC"/>
                </a:solidFill>
              </a:rPr>
              <a:t>Gemi + Römorkör Emniyet, Uyum, Güvenilirlik ve Zekâ İşletim Sistemi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12648" y="287121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</a:rPr>
              <a:t>Yönetim • Satış • Teknik • Controlled Candidate Sunumu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3401568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94944" y="3465576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FC3F7"/>
                </a:solidFill>
              </a:rPr>
              <a:t>196 EKRAN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975104" y="3401568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43D1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048256" y="3465576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3D1C1"/>
                </a:solidFill>
              </a:rPr>
              <a:t>2.316 ALAN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493008" y="340156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66160" y="3465576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8C15D"/>
                </a:solidFill>
              </a:rPr>
              <a:t>128 KAYNAK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956048" y="3401568"/>
            <a:ext cx="1207008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0" y="3465576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99CFF"/>
                </a:solidFill>
              </a:rPr>
              <a:t>13 TUG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510528" y="932688"/>
            <a:ext cx="5221224" cy="4279392"/>
          </a:xfrm>
          <a:prstGeom prst="roundRect">
            <a:avLst>
              <a:gd name="adj" fmla="val 1282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14" name="Image 0" descr="/mnt/data/poseidon_v462_tr.png">    </p:cNvPr>
          <p:cNvPicPr>
            <a:picLocks noChangeAspect="1"/>
          </p:cNvPicPr>
          <p:nvPr/>
        </p:nvPicPr>
        <p:blipFill>
          <a:blip r:embed="rId1"/>
          <a:srcRect l="11783" r="11783" t="0" b="0"/>
          <a:stretch/>
        </p:blipFill>
        <p:spPr>
          <a:xfrm>
            <a:off x="6537960" y="960120"/>
            <a:ext cx="5166360" cy="422452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21792" y="50749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Ship Safety, Compliance, Reliability &amp; Intelligence OS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1792" y="5504688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8FB"/>
                </a:solidFill>
              </a:rPr>
              <a:t>Scope freeze: GEMİ + RÖMORKÖR. Fleet/Company yönetim bağlamıdır; Port/Terminal/Berth/VTS yönetimi kapsam dışıdır.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Yönetici Özeti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Ürün analizini yeniden açmadan Foundation geliştirmeye geçilecek kontrollü baseline.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76656" y="188366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5D69E"/>
                </a:solidFill>
              </a:rPr>
              <a:t>GO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76656" y="224028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Sprint 0 / Foundation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676656" y="2441448"/>
            <a:ext cx="1801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Analiz baseline hazır</a:t>
            </a:r>
            <a:endParaRPr lang="en-US" sz="670" dirty="0"/>
          </a:p>
        </p:txBody>
      </p:sp>
      <p:sp>
        <p:nvSpPr>
          <p:cNvPr id="8" name="Shape 6"/>
          <p:cNvSpPr/>
          <p:nvPr/>
        </p:nvSpPr>
        <p:spPr>
          <a:xfrm>
            <a:off x="2724912" y="173736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52928" y="188366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FC3F7"/>
                </a:solidFill>
              </a:rPr>
              <a:t>196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852928" y="224028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Kontrollü ekran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2852928" y="2441448"/>
            <a:ext cx="1801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Role/context ile sadeleşir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4901184" y="173736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188366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3D1C1"/>
                </a:solidFill>
              </a:rPr>
              <a:t>2.316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029200" y="224028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Alan sözleşmesi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1801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API + entity + FR + test izi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7077456" y="173736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205472" y="188366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C15D"/>
                </a:solidFill>
              </a:rPr>
              <a:t>128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205472" y="224028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Mevzuat kaynak evreni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7205472" y="2441448"/>
            <a:ext cx="1801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Applicability ile aktive olur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9253728" y="173736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81744" y="188366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99CFF"/>
                </a:solidFill>
              </a:rPr>
              <a:t>2 MOD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381744" y="224028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Gemi + Römorkör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9381744" y="2441448"/>
            <a:ext cx="1801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Eşit first-class çalışma modu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548640" y="29718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6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57784" y="2980944"/>
            <a:ext cx="45720" cy="208483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13232" y="3136392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Bugün ne hazır?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483864"/>
            <a:ext cx="3319272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Master Product Spec • PRD/SRS • 196 ekran • 2.316 alan • TR/EN prototip • Backlog • Test/UAT gates • Legal register • Applicability engine • Tug crew/equipment rule pack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297680" y="29718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000000">
                <a:alpha val="260000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306824" y="2980944"/>
            <a:ext cx="45720" cy="208483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462272" y="3136392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Ne paralel kapanacak?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62272" y="3483864"/>
            <a:ext cx="3319272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Final ERD • ürün geneli API/Integration Spec • 196 ekran görselli katalog • AI Governance/Data Strategy • external flag/class/legal sign-off • pilot data reconciliation • CI/DB gate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8046720" y="29718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000000">
                <a:alpha val="260000000000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055864" y="2980944"/>
            <a:ext cx="45720" cy="2084832"/>
          </a:xfrm>
          <a:prstGeom prst="rect">
            <a:avLst/>
          </a:prstGeom>
          <a:solidFill>
            <a:srgbClr val="F27D7D"/>
          </a:solidFill>
          <a:ln w="12700">
            <a:solidFill>
              <a:srgbClr val="F27D7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211312" y="3136392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Freeze kuralı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11312" y="3483864"/>
            <a:ext cx="3319272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Ana kapsam değişmeyecek. Yeni ihtiyaçlar Change Control / MOC üzerinden değerlendirilecek. Critical UNKNOWN hiçbir zaman sahte “uyumlu/hazır” sonucu üretmeyecek.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48640" y="5532120"/>
            <a:ext cx="1752600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94360" y="5678424"/>
            <a:ext cx="166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Scope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10968" y="5532120"/>
            <a:ext cx="1752600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456688" y="5678424"/>
            <a:ext cx="166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Requirement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273296" y="5532120"/>
            <a:ext cx="1752600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319016" y="5678424"/>
            <a:ext cx="166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Screen/Field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135624" y="5532120"/>
            <a:ext cx="1752600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181344" y="5678424"/>
            <a:ext cx="166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API/Entity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997952" y="5532120"/>
            <a:ext cx="1752600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043672" y="5678424"/>
            <a:ext cx="166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FR/Test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860280" y="5532120"/>
            <a:ext cx="1752600" cy="502920"/>
          </a:xfrm>
          <a:prstGeom prst="roundRect">
            <a:avLst>
              <a:gd name="adj" fmla="val 9091"/>
            </a:avLst>
          </a:prstGeom>
          <a:solidFill>
            <a:srgbClr val="123A48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906000" y="5678424"/>
            <a:ext cx="166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5D69E"/>
                </a:solidFill>
              </a:rPr>
              <a:t>Development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Neyi çözüyor?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Denizcilik operasyonunda bilgi var; sorun, doğru anda doğrulanmış karar ve kanıta dönüşmemesi.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52028928200000000" dist="104057856400000000" dir="583200000000000000000">
              <a:srgbClr val="000000">
                <a:alpha val="2600000000000000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57784" y="1746504"/>
            <a:ext cx="45720" cy="2953512"/>
          </a:xfrm>
          <a:prstGeom prst="rect">
            <a:avLst/>
          </a:prstGeom>
          <a:solidFill>
            <a:srgbClr val="F27D7D"/>
          </a:solidFill>
          <a:ln w="12700">
            <a:solidFill>
              <a:srgbClr val="F27D7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9019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Dağınık operasyon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249424"/>
            <a:ext cx="2313432" cy="2368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SMS dokümanları, crew belgeleri, PMS, class/flag cert, HSE kayıtları ve operasyon kanıtları farklı yerlerde.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310128" y="173736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660767388140000000000" dist="1.32153477628e+21" dir="3.4992e+25">
              <a:srgbClr val="000000">
                <a:alpha val="2.6e+24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19272" y="1746504"/>
            <a:ext cx="45720" cy="295351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19019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Reaktif emniyet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249424"/>
            <a:ext cx="2313432" cy="2368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Kritik signal çoğu zaman audit, arıza veya olaydan sonra görünür. Tekil “yeşil KPI” gerçek blocker’ı maskeleyebilir.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071616" y="173736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8.391745829378e+24" dist="1.6783491658756e+25" dir="2.09952e+30">
              <a:srgbClr val="000000">
                <a:alpha val="2.6e+29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080760" y="1746504"/>
            <a:ext cx="45720" cy="295351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36208" y="19019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İzlenebilirlik açığı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6208" y="2249424"/>
            <a:ext cx="2313432" cy="2368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Requirement → control → operation → evidence → verification → human decision zinciri tek yerde değil.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833104" y="173736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0657517203310059e+29" dist="2.1315034406620118e+29" dir="1.259712e+35">
              <a:srgbClr val="000000">
                <a:alpha val="2.6e+34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842248" y="1746504"/>
            <a:ext cx="45720" cy="295351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97696" y="19019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Çözüm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97696" y="2249424"/>
            <a:ext cx="2313432" cy="2368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POSEIDON doğru role yalnız bugünkü istisnayı ve yapılacak işi gösterir; nedenini, kaynağını, sahibi ve kanıtıyla birlikte.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Operate. Comply. Predict. Decide.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Kontrollü Kapsam: Gemi + Römorkör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operasyon modu aynı güvenlik/compliance çekirdeğini paylaşır; iş ritimleri farklıdır.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3535046848203775e+33" dist="2.707009369640755e+33" dir="7.558272e+39">
              <a:srgbClr val="000000">
                <a:alpha val="2.6e+39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94944" y="1700784"/>
            <a:ext cx="45720" cy="32735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0392" y="1856232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GEMİ MODU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2203704"/>
            <a:ext cx="4782312" cy="2688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Departure • Voyage • Arrival • Cargo/Tanker • Crew • PMS • Certificates • Emergency • Safety • Assurance • Compliance • Mobile/Offline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6428232" y="169164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7189509497218795e+37" dist="3.437901899443759e+37" dir="4.5349632000000006e+44">
              <a:srgbClr val="000000">
                <a:alpha val="2.6e+44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37376" y="1700784"/>
            <a:ext cx="45720" cy="327355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92824" y="1856232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RÖMORKÖR MODU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92824" y="2203704"/>
            <a:ext cx="4782312" cy="2688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Job Intake • Job Board • Assignment • Crew/Equipment Readiness • Towage Plan • Risk &amp; Briefing • Execution • Daily Log • History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440680" y="2788920"/>
            <a:ext cx="1280160" cy="914400"/>
          </a:xfrm>
          <a:prstGeom prst="chevron">
            <a:avLst/>
          </a:prstGeom>
          <a:solidFill>
            <a:srgbClr val="102D3C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513832" y="299008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D69E"/>
                </a:solidFill>
              </a:rPr>
              <a:t>ORTAK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5D69E"/>
                </a:solidFill>
              </a:rPr>
              <a:t>ÇEKİRDEK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52303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B"/>
                </a:solidFill>
              </a:rPr>
              <a:t>Fleet / Company = tenant, yönetim, toplulaştırma ve karma filo context’i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93A9B8"/>
                </a:solidFill>
              </a:rPr>
              <a:t>Kapsam dışı: Port/Terminal/Berth allocation, VTS/Port Traffic, liman kaynak planlaması. Port/berth bilgisi yalnız operasyon context’i olabilir.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Ürün Mimarisi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Role-first daily UX üzerinde 16+ domain; kullanıcıya 196 ekranı ezberletmeyen yapı.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183067706146787e+41" dist="4.366135412293574e+41" dir="2.72097792e+49">
              <a:srgbClr val="000000">
                <a:alpha val="2.6e+49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57784" y="1655064"/>
            <a:ext cx="45720" cy="11247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81051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Command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15798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Today / Inbox / Role Dashboards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401568" y="1645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7724959868064195e+45" dist="5.544991973612839e+45" dir="1.6325867520000003e+54">
              <a:srgbClr val="000000">
                <a:alpha val="2.5999999999999997e+54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10712" y="1655064"/>
            <a:ext cx="45720" cy="112471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66160" y="181051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Fleet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15798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Vessel / Readiness / Passport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254496" y="1645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3.5210699032441527e+49" dist="7.042139806488305e+49" dir="9.795520512000002e+58">
              <a:srgbClr val="000000">
                <a:alpha val="2.5999999999999995e+59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1655064"/>
            <a:ext cx="45720" cy="112471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19088" y="181051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People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19088" y="215798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Crew / Competence / Work-Rest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107424" y="1645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4.471758777120074e+53" dist="8.943517554240149e+53" dir="5.877312307200001e+63">
              <a:srgbClr val="000000">
                <a:alpha val="2.5999999999999997e+64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16568" y="1655064"/>
            <a:ext cx="45720" cy="112471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272016" y="181051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72016" y="215798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Ship / Tanker / Tug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5.679133646942494e+57" dist="1.1358267293884988e+58" dir="3.526387384320001e+68">
              <a:srgbClr val="000000">
                <a:alpha val="2.5999999999999998e+69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57784" y="3072384"/>
            <a:ext cx="45720" cy="11247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3232" y="322783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Safety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57530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HSE / Emergency / Events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401568" y="30632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7.212499731616968e+61" dist="1.4424999463233936e+62" dir="2.1158324305920003e+73">
              <a:srgbClr val="000000">
                <a:alpha val="2.6e+74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410712" y="3072384"/>
            <a:ext cx="45720" cy="112471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566160" y="322783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Technical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357530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PMS / Asset / Defect / Spares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254496" y="30632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9.15987465915355e+65" dist="1.83197493183071e+66" dir="1.2694994583552002e+78">
              <a:srgbClr val="000000">
                <a:alpha val="2.6e+79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263640" y="3072384"/>
            <a:ext cx="45720" cy="112471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19088" y="322783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Knowledge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19088" y="357530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SMS / Procedure / Notices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107424" y="30632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1633040817125008e+70" dist="2.3266081634250016e+70" dir="7.616996750131201e+82">
              <a:srgbClr val="000000">
                <a:alpha val="2.6e+84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116568" y="3072384"/>
            <a:ext cx="45720" cy="112471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272016" y="322783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Assurance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72016" y="357530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Audit / PSC / Class / Certification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48640" y="44805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477396183774876e+74" dist="2.954792367549752e+74" dir="4.57019805007872e+87">
              <a:srgbClr val="000000">
                <a:alpha val="2.6e+89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57784" y="4489704"/>
            <a:ext cx="45720" cy="11247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13232" y="46451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Regulatory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" y="499262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Requirement / Applicability / Evidence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3401568" y="44805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8762931533940924e+78" dist="3.752586306788185e+78" dir="2.742118830047232e+92">
              <a:srgbClr val="000000">
                <a:alpha val="2.6e+94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3410712" y="4489704"/>
            <a:ext cx="45720" cy="112471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566160" y="46451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66160" y="499262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Why / Risk / Copilot / Decision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254496" y="44805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3828923048104974e+82" dist="4.765784609620995e+82" dir="1.6452712980283393e+97">
              <a:srgbClr val="000000">
                <a:alpha val="2.6e+99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263640" y="4489704"/>
            <a:ext cx="45720" cy="112471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419088" y="46451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Mobile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19088" y="499262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Tasks / QR / Offline / Sync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9107424" y="44805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3.0262732271093317e+86" dist="6.052546454218663e+86" dir="9.871627788170037e+101">
              <a:srgbClr val="000000">
                <a:alpha val="2.6e+104"/>
              </a:srgbClr>
            </a:outerShdw>
          </a:effectLst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116568" y="4489704"/>
            <a:ext cx="45720" cy="112471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272016" y="46451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Administration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272016" y="4992624"/>
            <a:ext cx="2313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Workflow / Integration / Data Trust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Role-First UX: POSEIDON Bugün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“Normal” sessiz kalır; yalnız bugün karar/aksiyon gerektiren istisnalar görünür.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7552944" cy="4672584"/>
          </a:xfrm>
          <a:prstGeom prst="roundRect">
            <a:avLst>
              <a:gd name="adj" fmla="val 1174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poseidon_v462_185screens/055_poseidon-today.jpg">    </p:cNvPr>
          <p:cNvPicPr>
            <a:picLocks noChangeAspect="1"/>
          </p:cNvPicPr>
          <p:nvPr/>
        </p:nvPicPr>
        <p:blipFill>
          <a:blip r:embed="rId1"/>
          <a:srcRect l="0" r="0" t="732" b="732"/>
          <a:stretch/>
        </p:blipFill>
        <p:spPr>
          <a:xfrm>
            <a:off x="594360" y="1600200"/>
            <a:ext cx="749808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664208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3.8433669984288512e+90" dist="7.6867339968577025e+90" dir="5.9229766729020215e+106">
              <a:srgbClr val="000000">
                <a:alpha val="2.6e+109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284464" y="1673352"/>
            <a:ext cx="45720" cy="11247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439912" y="182880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Situation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39912" y="2176272"/>
            <a:ext cx="304495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Bugün maddi olarak ne farklı?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8275320" y="292608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4.8810760880046414e+94" dist="9.762152176009283e+94" dir="3.553786003741213e+111">
              <a:srgbClr val="000000">
                <a:alpha val="2.6e+114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84464" y="2935224"/>
            <a:ext cx="45720" cy="112471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439912" y="309067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Action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39912" y="3438144"/>
            <a:ext cx="304495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Şimdi ne yapmalıyım?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8275320" y="418795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6.198966631765894e+98" dist="1.2397933263531789e+99" dir="2.1322716022447277e+116">
              <a:srgbClr val="000000">
                <a:alpha val="2.6e+119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284464" y="4197096"/>
            <a:ext cx="45720" cy="112471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439912" y="435254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Why + Proof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39912" y="4700016"/>
            <a:ext cx="304495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Hangi kaynak/kanıt/blocker bunu sürüklüyor?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8275320" y="5449824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7.872687622342685e+102" dist="1.574537524468537e+103" dir="1.2793629613468366e+121">
              <a:srgbClr val="000000">
                <a:alpha val="2.6e+124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284464" y="5458968"/>
            <a:ext cx="45720" cy="640080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439912" y="561441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Decision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439912" y="5961888"/>
            <a:ext cx="3044952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Hangi yetkili insan karar vermeli?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Gemi Uçtan Uca Yolculuk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Voyage readiness artık günlük operasyon verisiyle beslenir: Noon + Deck/Engine Logs + Fuel/ROB + evidence → readiness.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27558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883664"/>
            <a:ext cx="11841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Today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979676" y="1737360"/>
            <a:ext cx="127558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25396" y="1883664"/>
            <a:ext cx="11841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Departure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364992" y="1737360"/>
            <a:ext cx="127558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10712" y="1883664"/>
            <a:ext cx="11841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Crew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50308" y="1737360"/>
            <a:ext cx="127558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96028" y="1883664"/>
            <a:ext cx="11841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Technical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35624" y="1737360"/>
            <a:ext cx="127558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181344" y="1883664"/>
            <a:ext cx="11841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Certificates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520940" y="1737360"/>
            <a:ext cx="127558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566660" y="1883664"/>
            <a:ext cx="11841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Operation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906256" y="1737360"/>
            <a:ext cx="127558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51976" y="1883664"/>
            <a:ext cx="11841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Evidence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291572" y="1737360"/>
            <a:ext cx="1275588" cy="502920"/>
          </a:xfrm>
          <a:prstGeom prst="roundRect">
            <a:avLst>
              <a:gd name="adj" fmla="val 9091"/>
            </a:avLst>
          </a:prstGeom>
          <a:solidFill>
            <a:srgbClr val="123A48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337292" y="1883664"/>
            <a:ext cx="11841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C3F7"/>
                </a:solidFill>
              </a:rPr>
              <a:t>Master Decision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66928" y="2441448"/>
            <a:ext cx="5449824" cy="3300984"/>
          </a:xfrm>
          <a:prstGeom prst="roundRect">
            <a:avLst>
              <a:gd name="adj" fmla="val 1662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21" name="Image 0" descr="/mnt/data/poseidon_v462_185screens/076_safety-command.jpg">    </p:cNvPr>
          <p:cNvPicPr>
            <a:picLocks noChangeAspect="1"/>
          </p:cNvPicPr>
          <p:nvPr/>
        </p:nvPicPr>
        <p:blipFill>
          <a:blip r:embed="rId1"/>
          <a:srcRect l="0" r="0" t="1864" b="1864"/>
          <a:stretch/>
        </p:blipFill>
        <p:spPr>
          <a:xfrm>
            <a:off x="594360" y="2468880"/>
            <a:ext cx="5394960" cy="32461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172200" y="2441448"/>
            <a:ext cx="5449824" cy="3300984"/>
          </a:xfrm>
          <a:prstGeom prst="roundRect">
            <a:avLst>
              <a:gd name="adj" fmla="val 1662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23" name="Image 1" descr="/mnt/data/poseidon_v462_185screens/159_certificate-command-center.jpg">    </p:cNvPr>
          <p:cNvPicPr>
            <a:picLocks noChangeAspect="1"/>
          </p:cNvPicPr>
          <p:nvPr/>
        </p:nvPicPr>
        <p:blipFill>
          <a:blip r:embed="rId2"/>
          <a:srcRect l="0" r="0" t="1864" b="1864"/>
          <a:stretch/>
        </p:blipFill>
        <p:spPr>
          <a:xfrm>
            <a:off x="6199632" y="2468880"/>
            <a:ext cx="5394960" cy="32461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94360" y="58978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F4F8FB"/>
                </a:solidFill>
              </a:rPr>
              <a:t>Örnek: Critical maintenance + crew eligibility + survey window + emergency readiness aynı Master kararında görünür.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Römorkör Uçtan Uca Yolculuk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Römorkör artık profile değil; kendi kısa/sık iş ritmi ve emniyet kapıları olan tam operasyon modudur.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379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Job Intake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911096" y="169164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956816" y="18379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Job Board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319272" y="169164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64992" y="18379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Assignment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27448" y="169164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73168" y="18379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Readiness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35624" y="169164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181344" y="18379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Towage Plan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543800" y="169164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589520" y="18379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Briefing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951976" y="169164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97696" y="18379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Execution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360152" y="169164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123A48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405872" y="18379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9CFF"/>
                </a:solidFill>
              </a:rPr>
              <a:t>Log / History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66928" y="2368296"/>
            <a:ext cx="6547104" cy="3666744"/>
          </a:xfrm>
          <a:prstGeom prst="roundRect">
            <a:avLst>
              <a:gd name="adj" fmla="val 1496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21" name="Image 0" descr="/mnt/data/poseidon_v462_185screens/173_tug-command.jpg">    </p:cNvPr>
          <p:cNvPicPr>
            <a:picLocks noChangeAspect="1"/>
          </p:cNvPicPr>
          <p:nvPr/>
        </p:nvPicPr>
        <p:blipFill>
          <a:blip r:embed="rId1"/>
          <a:srcRect l="0" r="0" t="5493" b="5493"/>
          <a:stretch/>
        </p:blipFill>
        <p:spPr>
          <a:xfrm>
            <a:off x="594360" y="2395728"/>
            <a:ext cx="6492240" cy="361188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296912" y="2432304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9.998313280375211e+106" dist="1.9996626560750422e+107" dir="7.67617776808102e+125">
              <a:srgbClr val="000000">
                <a:alpha val="2.6e+129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306056" y="2441448"/>
            <a:ext cx="45720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461504" y="2596896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Shore Planner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61504" y="2944368"/>
            <a:ext cx="395935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Atama yapar; overlap/BP/crew/equipment/PMS/cert kontrollerini görür.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7296912" y="3593592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2697857866076517e+111" dist="2.5395715732153033e+111" dir="4.605706660848612e+130">
              <a:srgbClr val="000000">
                <a:alpha val="2.6e+134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7306056" y="3602736"/>
            <a:ext cx="45720" cy="1005840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461504" y="375818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Master / Tug Master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61504" y="4105656"/>
            <a:ext cx="395935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Final onboard safety authority. Start / suspend / abort / complete kararını verir.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7296912" y="4754880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6126279489917177e+115" dist="3.2252558979834354e+115" dir="2.763423996509167e+135">
              <a:srgbClr val="000000">
                <a:alpha val="2.6e+139"/>
              </a:srgbClr>
            </a:outerShdw>
          </a:effectLst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7306056" y="4764024"/>
            <a:ext cx="45720" cy="1005840"/>
          </a:xfrm>
          <a:prstGeom prst="rect">
            <a:avLst/>
          </a:prstGeom>
          <a:solidFill>
            <a:srgbClr val="F27D7D"/>
          </a:solidFill>
          <a:ln w="12700">
            <a:solidFill>
              <a:srgbClr val="F27D7D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461504" y="49194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Port OS değil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461504" y="5266944"/>
            <a:ext cx="395935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Kendi tug işlerini yönetir; berth/VTS/terminal kaynak yönetimi yapmaz.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Römorkör Readiness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Crew + towing equipment + PMS + certificate + weather/comms koşulları açıklanabilir şekilde birleşir.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12648" y="1572768"/>
            <a:ext cx="7370064" cy="4581144"/>
          </a:xfrm>
          <a:prstGeom prst="roundRect">
            <a:avLst>
              <a:gd name="adj" fmla="val 1198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poseidon_v462_185screens/178_tug-readiness.jpg">    </p:cNvPr>
          <p:cNvPicPr>
            <a:picLocks noChangeAspect="1"/>
          </p:cNvPicPr>
          <p:nvPr/>
        </p:nvPicPr>
        <p:blipFill>
          <a:blip r:embed="rId1"/>
          <a:srcRect l="0" r="0" t="500" b="500"/>
          <a:stretch/>
        </p:blipFill>
        <p:spPr>
          <a:xfrm>
            <a:off x="640080" y="1600200"/>
            <a:ext cx="731520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47888" y="1755648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375904" y="190195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C15D"/>
                </a:solidFill>
              </a:rPr>
              <a:t>CONDITIONAL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375904" y="2258568"/>
            <a:ext cx="2807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Overall state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8375904" y="2459736"/>
            <a:ext cx="2807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1 operational review</a:t>
            </a:r>
            <a:endParaRPr lang="en-US" sz="670" dirty="0"/>
          </a:p>
        </p:txBody>
      </p:sp>
      <p:sp>
        <p:nvSpPr>
          <p:cNvPr id="10" name="Shape 7"/>
          <p:cNvSpPr/>
          <p:nvPr/>
        </p:nvSpPr>
        <p:spPr>
          <a:xfrm>
            <a:off x="8247888" y="2852928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0480374952194813e+119" dist="4.0960749904389626e+119" dir="1.6580543979055002e+140">
              <a:srgbClr val="000000">
                <a:alpha val="2.6000000000000002e+144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57032" y="2862072"/>
            <a:ext cx="45720" cy="94183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412480" y="301752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Crew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12480" y="3364992"/>
            <a:ext cx="27706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MSMD + certificate + medical + competence + work/rest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8247888" y="3959352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6010076189287412e+123" dist="5.2020152378574823e+123" dir="9.948326387433002e+144">
              <a:srgbClr val="000000">
                <a:alpha val="2.6000000000000002e+149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257032" y="3968496"/>
            <a:ext cx="45720" cy="9418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412480" y="412394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Equipment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12480" y="4471416"/>
            <a:ext cx="27706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Winch • towline • tow hook • ERS • FiFi • PMS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8247888" y="5065776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3.303279676039501e+127" dist="6.606559352079002e+127" dir="5.968995832459801e+149">
              <a:srgbClr val="000000">
                <a:alpha val="2.6000000000000002e+154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257032" y="5074920"/>
            <a:ext cx="45720" cy="94183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412480" y="523036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Human Gate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412480" y="5577840"/>
            <a:ext cx="27706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Shore ataması onboard Master kararını bypass etmez.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Crew &amp; Competence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 → Position → Qualification → Certificate → Competence → Training → Experience.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618488"/>
            <a:ext cx="5541264" cy="4443984"/>
          </a:xfrm>
          <a:prstGeom prst="roundRect">
            <a:avLst>
              <a:gd name="adj" fmla="val 1235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poseidon_v462_185screens/152_crew-roster.jpg">    </p:cNvPr>
          <p:cNvPicPr>
            <a:picLocks noChangeAspect="1"/>
          </p:cNvPicPr>
          <p:nvPr/>
        </p:nvPicPr>
        <p:blipFill>
          <a:blip r:embed="rId1"/>
          <a:srcRect l="10938" r="10938" t="0" b="0"/>
          <a:stretch/>
        </p:blipFill>
        <p:spPr>
          <a:xfrm>
            <a:off x="594360" y="1645920"/>
            <a:ext cx="548640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664208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4.195165188570166e+131" dist="8.390330377140333e+131" dir="3.581397499475881e+154">
              <a:srgbClr val="000000">
                <a:alpha val="2.6e+159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318504" y="1673352"/>
            <a:ext cx="45720" cy="98755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73952" y="182880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Eligibility Engine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73952" y="2176272"/>
            <a:ext cx="491947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MSMD → GT/kW → capacity → limitations → medical → training → competence → familiarization → work/rest → briefing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6309360" y="2816352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5.327859789484111e+135" dist="1.0655719578968222e+136" dir="2.1488384996855287e+159">
              <a:srgbClr val="000000">
                <a:alpha val="2.6e+164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318504" y="2825496"/>
            <a:ext cx="45720" cy="9875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73952" y="2980944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Safe Manning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73952" y="3328416"/>
            <a:ext cx="491947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Required profile vs actual crew; vessel/tug-specific authority document is primary evidence.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6309360" y="3968496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6.766381932644821e+139" dist="1.3532763865289643e+140" dir="1.2893030998113172e+164">
              <a:srgbClr val="000000">
                <a:alpha val="2.6e+169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318504" y="3977640"/>
            <a:ext cx="45720" cy="98755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73952" y="4133088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Assignment Gate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73952" y="4480560"/>
            <a:ext cx="491947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Expired/missing mandatory credential = NOT_ELIGIBLE; uncertainty = REVIEW_REQUIRED.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309360" y="51206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8.593305054458923e+143" dist="1.7186610108917847e+144" dir="7.735818598867904e+168">
              <a:srgbClr val="000000">
                <a:alpha val="2.6e+174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318504" y="5129784"/>
            <a:ext cx="45720" cy="89611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473952" y="5285232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Fleet Insight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73952" y="5632704"/>
            <a:ext cx="491947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Repeated rest/competence gaps feed Safety Intelligence without exposing unnecessary sensitive health data.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/ PMS 2.0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Vessel → System → Equipment → Component; critical defects readiness’e doğrudan etki eder.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618488"/>
            <a:ext cx="6455664" cy="4398264"/>
          </a:xfrm>
          <a:prstGeom prst="roundRect">
            <a:avLst>
              <a:gd name="adj" fmla="val 1247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poseidon_v462_185screens/138_pms-command-center.jpg">    </p:cNvPr>
          <p:cNvPicPr>
            <a:picLocks noChangeAspect="1"/>
          </p:cNvPicPr>
          <p:nvPr/>
        </p:nvPicPr>
        <p:blipFill>
          <a:blip r:embed="rId1"/>
          <a:srcRect l="3947" r="3947" t="0" b="0"/>
          <a:stretch/>
        </p:blipFill>
        <p:spPr>
          <a:xfrm>
            <a:off x="594360" y="1645920"/>
            <a:ext cx="640080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69164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0913497419162833e+148" dist="2.1826994838325667e+148" dir="4.6414911593207425e+173">
              <a:srgbClr val="000000">
                <a:alpha val="2.5999999999999996e+179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232904" y="1700784"/>
            <a:ext cx="45720" cy="9418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388352" y="185623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Asset Reliability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88352" y="2203704"/>
            <a:ext cx="40507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Criticality • running hours • condition • failure history • redundancy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7223760" y="278892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38601417223368e+152" dist="2.77202834446736e+152" dir="2.7848946955924455e+178">
              <a:srgbClr val="000000">
                <a:alpha val="2.5999999999999996e+184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232904" y="2798064"/>
            <a:ext cx="45720" cy="94183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388352" y="295351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Work Order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88352" y="3300984"/>
            <a:ext cx="40507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Permit/risk/evidence/verifier olmadan kritik iş “tamamlandı” sayılamaz.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223760" y="388620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7602379987367734e+156" dist="3.520475997473547e+156" dir="1.6709368173554673e+183">
              <a:srgbClr val="000000">
                <a:alpha val="2.5999999999999993e+189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232904" y="3895344"/>
            <a:ext cx="45720" cy="94183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388352" y="405079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Critical Spares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88352" y="4398264"/>
            <a:ext cx="40507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Minimum qty + stock + reorder + asset risk; eksik kritik yedek Safety Readiness’i düşürür.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7223760" y="498348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235502258395702e+160" dist="4.471004516791404e+160" dir="1.0025620904132804e+188">
              <a:srgbClr val="000000">
                <a:alpha val="2.5999999999999992e+194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232904" y="4992624"/>
            <a:ext cx="45720" cy="94183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388352" y="514807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Class / Survey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88352" y="5495544"/>
            <a:ext cx="40507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Defect, PMS ve survey evidence aynı equipment lineage içinde.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&amp; Learning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→ immediate action → evidence → investigation → barrier/root cause → action → effectiveness → lesson.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618488"/>
            <a:ext cx="6501384" cy="4443984"/>
          </a:xfrm>
          <a:prstGeom prst="roundRect">
            <a:avLst>
              <a:gd name="adj" fmla="val 1235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poseidon_v462_185screens/094_events-learning.jpg">    </p:cNvPr>
          <p:cNvPicPr>
            <a:picLocks noChangeAspect="1"/>
          </p:cNvPicPr>
          <p:nvPr/>
        </p:nvPicPr>
        <p:blipFill>
          <a:blip r:embed="rId1"/>
          <a:srcRect l="4102" r="4102" t="0" b="0"/>
          <a:stretch/>
        </p:blipFill>
        <p:spPr>
          <a:xfrm>
            <a:off x="594360" y="1645920"/>
            <a:ext cx="644652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42048" y="1691640"/>
            <a:ext cx="4315968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8390878681625417e+164" dist="5.678175736325083e+164" dir="6.015372542479682e+192">
              <a:srgbClr val="000000">
                <a:alpha val="2.5999999999999993e+199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251192" y="1700784"/>
            <a:ext cx="45720" cy="94183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406640" y="1856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HSE bağımsız domain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06640" y="2203704"/>
            <a:ext cx="402336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Quality/CAPA altına gömülmez; PTW, risk, PPE, observations, stop-work, contractor safety.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7242048" y="2816352"/>
            <a:ext cx="4315968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3.605641592566428e+168" dist="7.211283185132856e+168" dir="3.6092235254878095e+197">
              <a:srgbClr val="000000">
                <a:alpha val="2.5999999999999996e+204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251192" y="2825496"/>
            <a:ext cx="45720" cy="94183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06640" y="29809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Barrier Health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06640" y="3328416"/>
            <a:ext cx="402336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Preventive / mitigating barriers Healthy • Degraded • Failed olarak izlenir.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242048" y="3941064"/>
            <a:ext cx="4315968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4.579164822559364e+172" dist="9.158329645118728e+172" dir="2.1655341152926858e+202">
              <a:srgbClr val="000000">
                <a:alpha val="2.5999999999999997e+209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251192" y="3950208"/>
            <a:ext cx="45720" cy="9418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406640" y="41056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Learning Loop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06640" y="4453128"/>
            <a:ext cx="402336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Bir gemideki lesson → fleet notice/procedure/training → acknowledgement → effectiveness.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7242048" y="5065776"/>
            <a:ext cx="4315968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5.815539324650392e+176" dist="1.1631078649300784e+177" dir="1.2993204691756116e+207">
              <a:srgbClr val="000000">
                <a:alpha val="2.5999999999999995e+214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251192" y="5074920"/>
            <a:ext cx="45720" cy="94183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406640" y="5230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Protected Reporting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06640" y="5577840"/>
            <a:ext cx="402336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Confidential/anonymous workflow, restricted reviewer ve minimum-data principle.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Applicability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Regülasyon deposu değil: belirli gemi/römorkör + operasyon + tarih için aktif kontrolü hesaplayan karar altyapısı.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7004304" cy="4535424"/>
          </a:xfrm>
          <a:prstGeom prst="roundRect">
            <a:avLst>
              <a:gd name="adj" fmla="val 1210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poseidon_v462_185screens/032_applicability-rule-builder.jpg">    </p:cNvPr>
          <p:cNvPicPr>
            <a:picLocks noChangeAspect="1"/>
          </p:cNvPicPr>
          <p:nvPr/>
        </p:nvPicPr>
        <p:blipFill>
          <a:blip r:embed="rId1"/>
          <a:srcRect l="1531" r="1531" t="0" b="0"/>
          <a:stretch/>
        </p:blipFill>
        <p:spPr>
          <a:xfrm>
            <a:off x="594360" y="1627632"/>
            <a:ext cx="694944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54112" y="1719072"/>
            <a:ext cx="3767328" cy="868680"/>
          </a:xfrm>
          <a:prstGeom prst="roundRect">
            <a:avLst>
              <a:gd name="adj" fmla="val 842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7.385734942305998e+180" dist="1.4771469884611996e+181" dir="7.795922815053669e+211">
              <a:srgbClr val="000000">
                <a:alpha val="2.5999999999999993e+219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763256" y="1728216"/>
            <a:ext cx="45720" cy="8503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918704" y="1883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3-Değerli Mantık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18704" y="2231136"/>
            <a:ext cx="347472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TRUE • FALSE • UNKNOWN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7754112" y="2724912"/>
            <a:ext cx="3767328" cy="868680"/>
          </a:xfrm>
          <a:prstGeom prst="roundRect">
            <a:avLst>
              <a:gd name="adj" fmla="val 842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9.379883376728618e+184" dist="1.8759766753457235e+185" dir="4.677553689032201e+216">
              <a:srgbClr val="000000">
                <a:alpha val="2.5999999999999992e+224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763256" y="2734056"/>
            <a:ext cx="45720" cy="85039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918704" y="2889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3 Sonuç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18704" y="3236976"/>
            <a:ext cx="347472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APPLICABLE • NOT_APPLICABLE • REVIEW_REQUIRED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754112" y="3730752"/>
            <a:ext cx="3767328" cy="868680"/>
          </a:xfrm>
          <a:prstGeom prst="roundRect">
            <a:avLst>
              <a:gd name="adj" fmla="val 842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1912451888445345e+189" dist="2.382490377689069e+189" dir="2.806532213419321e+221">
              <a:srgbClr val="000000">
                <a:alpha val="2.5999999999999993e+229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763256" y="3739896"/>
            <a:ext cx="45720" cy="85039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918704" y="3895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Girdi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18704" y="4242816"/>
            <a:ext cx="347472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Flag • Class • GT/kW • Build • Voyage/Area • Cargo/Job • Equipment • Crew • Tarih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7754112" y="4736592"/>
            <a:ext cx="3767328" cy="868680"/>
          </a:xfrm>
          <a:prstGeom prst="roundRect">
            <a:avLst>
              <a:gd name="adj" fmla="val 842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5128813898325588e+193" dist="3.0257627796651175e+193" dir="1.6839193280515925e+226">
              <a:srgbClr val="000000">
                <a:alpha val="2.5999999999999994e+234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763256" y="4745736"/>
            <a:ext cx="45720" cy="85039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918704" y="4901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Çıktı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18704" y="5248656"/>
            <a:ext cx="347472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Requirement • Control • Screen/Field • Evidence • Verification • Test • Notification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Yasal / Regülatif Kaynak Evreni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register “her satır her gemiye uygulanır” listesi değil; Dynamic Applicability için kontrollü source universe.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22376" y="179222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128</a:t>
            </a:r>
          </a:p>
        </p:txBody>
      </p:sp>
      <p:sp>
        <p:nvSpPr>
          <p:cNvPr id="6" name="Text 4"/>
          <p:cNvSpPr/>
          <p:nvPr/>
        </p:nvSpPr>
        <p:spPr>
          <a:xfrm>
            <a:off x="722376" y="214884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Uluslararası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22376" y="2350008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IMO/ILO sözleşme-kod-guidance</a:t>
            </a:r>
            <a:endParaRPr lang="en-US" sz="670" dirty="0"/>
          </a:p>
        </p:txBody>
      </p:sp>
      <p:sp>
        <p:nvSpPr>
          <p:cNvPr id="8" name="Shape 6"/>
          <p:cNvSpPr/>
          <p:nvPr/>
        </p:nvSpPr>
        <p:spPr>
          <a:xfrm>
            <a:off x="2715768" y="16459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43784" y="179222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5D69E"/>
                </a:solidFill>
              </a:rPr>
              <a:t>41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843784" y="214884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Türkiye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2843784" y="2350008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Kanun/yönetmelik/yönerge/talimat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4837176" y="16459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65192" y="179222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C15D"/>
                </a:solidFill>
              </a:rPr>
              <a:t>13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965192" y="214884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AB/AEA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4965192" y="2350008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MRV/ETS/FuelEU/GDPR/Cyber/AI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6958584" y="16459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086600" y="179222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99CFF"/>
                </a:solidFill>
              </a:rPr>
              <a:t>12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086600" y="214884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Tug / Industry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7086600" y="2350008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IACS/Class + ISGOTT/SIRE/TMSA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9079992" y="16459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08008" y="179222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7D7D"/>
                </a:solidFill>
              </a:rPr>
              <a:t>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208008" y="214884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Future / Monitor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9208008" y="2350008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MLC 2025, IMO net-zero, CRA full etc.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594360" y="29718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9213593650873497e+197" dist="3.8427187301746993e+197" dir="1.0103515968309554e+231">
              <a:srgbClr val="000000">
                <a:alpha val="2.5999999999999993e+239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03504" y="2980944"/>
            <a:ext cx="45720" cy="22219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8952" y="3136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P0 Kök Kaynaklar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" y="3483864"/>
            <a:ext cx="3227832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ISM / SOLAS / STCW / MARPOL / MLC / ISPS / IMDG / Türk ISM / 2024 crew / 2025 tug / KVKK / Cyber / regional rules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343400" y="29718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440126393660934e+201" dist="4.880252787321868e+201" dir="6.062109580985733e+235">
              <a:srgbClr val="000000">
                <a:alpha val="2.599999999999999e+244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352544" y="2980944"/>
            <a:ext cx="45720" cy="222199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07992" y="3136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Applicability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07992" y="3483864"/>
            <a:ext cx="3227832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Flag + class + vessel type + GT/kW + build + voyage/area + cargo/job + equipment + crew + date + contract.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8092440" y="29718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3.0989605199493864e+205" dist="6.197921039898773e+205" dir="3.63726574859144e+240">
              <a:srgbClr val="000000">
                <a:alpha val="2.599999999999999e+249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101584" y="2980944"/>
            <a:ext cx="45720" cy="2221992"/>
          </a:xfrm>
          <a:prstGeom prst="rect">
            <a:avLst/>
          </a:prstGeom>
          <a:solidFill>
            <a:srgbClr val="F27D7D"/>
          </a:solidFill>
          <a:ln w="12700">
            <a:solidFill>
              <a:srgbClr val="F27D7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257032" y="3136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Production Legal Gate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57032" y="3483864"/>
            <a:ext cx="3227832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Pilot ship/tug actual docs + class/RO + flag/legal SME sign-off olmadan “tam yasal uyum” iddiası yapılmaz.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94360" y="56235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3A9B8"/>
                </a:solidFill>
              </a:rPr>
              <a:t>Master register: POSEIDON_v46.3_Gemi_Romorkor_Master_Yasal_Regulatif_Mevzuat_Register_TR.xlsx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Assurance, Class &amp; Certificate Intelligence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→ Certificate → Vessel/Tug → Survey Window → Evidence → Readiness.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6547104" cy="4398264"/>
          </a:xfrm>
          <a:prstGeom prst="roundRect">
            <a:avLst>
              <a:gd name="adj" fmla="val 1247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poseidon_v462_185screens/159_certificate-command-center.jpg">    </p:cNvPr>
          <p:cNvPicPr>
            <a:picLocks noChangeAspect="1"/>
          </p:cNvPicPr>
          <p:nvPr/>
        </p:nvPicPr>
        <p:blipFill>
          <a:blip r:embed="rId1"/>
          <a:srcRect l="3289" r="3289" t="0" b="0"/>
          <a:stretch/>
        </p:blipFill>
        <p:spPr>
          <a:xfrm>
            <a:off x="594360" y="1691640"/>
            <a:ext cx="64922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755648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3.9356798603357206e+209" dist="7.871359720671441e+209" dir="2.182359449154864e+245">
              <a:srgbClr val="000000">
                <a:alpha val="2.599999999999999e+254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324344" y="1764792"/>
            <a:ext cx="45720" cy="9418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479792" y="192024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Statutory &amp; Class Register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79792" y="2267712"/>
            <a:ext cx="3867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DOC/SMC • Load Line • MARPOL • MLC • BWM • class status/conditions • BP evidence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7315200" y="2871216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4.9983134226263654e+213" dist="9.996626845252731e+213" dir="1.3094156694929184e+250">
              <a:srgbClr val="000000">
                <a:alpha val="2.599999999999999e+259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324344" y="2880360"/>
            <a:ext cx="45720" cy="94183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79792" y="3035808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Survey Planner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79792" y="3383280"/>
            <a:ext cx="3867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Annual/intermediate/special/docking + HSSC windows + equipment-specific survey packs.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315200" y="3986784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6.347858046735484e+217" dist="1.2695716093470969e+218" dir="7.85649401695751e+254">
              <a:srgbClr val="000000">
                <a:alpha val="2.599999999999999e+264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324344" y="3995928"/>
            <a:ext cx="45720" cy="94183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479792" y="4151376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PSC / Vetting Memory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79792" y="4498848"/>
            <a:ext cx="3867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Deficiency recurrence, root cause, evidence readiness and fleet learning.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7315200" y="5102352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8.061779719354066e+221" dist="1.612355943870813e+222" dir="4.713896410174506e+259">
              <a:srgbClr val="000000">
                <a:alpha val="2.599999999999999e+269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324344" y="5111496"/>
            <a:ext cx="45720" cy="85039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479792" y="5266944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Audit Pack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79792" y="5614416"/>
            <a:ext cx="386791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Requirement → control → evidence → verification export; immutable provenance.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Maritime Intelligence ve AI Sınırları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chatbot değil; source-aware pattern detection ve decision support.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618488"/>
            <a:ext cx="6135624" cy="4443984"/>
          </a:xfrm>
          <a:prstGeom prst="roundRect">
            <a:avLst>
              <a:gd name="adj" fmla="val 1235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poseidon_v462_185screens/166_decision-center.jpg">    </p:cNvPr>
          <p:cNvPicPr>
            <a:picLocks noChangeAspect="1"/>
          </p:cNvPicPr>
          <p:nvPr/>
        </p:nvPicPr>
        <p:blipFill>
          <a:blip r:embed="rId1"/>
          <a:srcRect l="6706" r="6706" t="0" b="0"/>
          <a:stretch/>
        </p:blipFill>
        <p:spPr>
          <a:xfrm>
            <a:off x="594360" y="1645920"/>
            <a:ext cx="608076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755648"/>
            <a:ext cx="1049274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949440" y="1901952"/>
            <a:ext cx="9578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Detect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8062722" y="1755648"/>
            <a:ext cx="1049274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108442" y="1901952"/>
            <a:ext cx="9578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Explain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9221724" y="1755648"/>
            <a:ext cx="1049274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267444" y="1901952"/>
            <a:ext cx="9578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Recommend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0380726" y="1755648"/>
            <a:ext cx="1049274" cy="502920"/>
          </a:xfrm>
          <a:prstGeom prst="roundRect">
            <a:avLst>
              <a:gd name="adj" fmla="val 9091"/>
            </a:avLst>
          </a:prstGeom>
          <a:solidFill>
            <a:srgbClr val="123A48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426446" y="1901952"/>
            <a:ext cx="9578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9CFF"/>
                </a:solidFill>
              </a:rPr>
              <a:t>Authorized Human Decision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903720" y="251460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0238460243579663e+226" dist="2.0476920487159326e+226" dir="2.8283378461047036e+264">
              <a:srgbClr val="000000">
                <a:alpha val="2.599999999999999e+274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912864" y="2523744"/>
            <a:ext cx="45720" cy="8503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068312" y="2679192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Source-aware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68312" y="3026664"/>
            <a:ext cx="42336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Her öneri kaynak/kanıt/confidence ve etkilenen control ile açıklanır.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903720" y="352044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3002844509346172e+230" dist="2.6005689018692344e+230" dir="1.6970027076628222e+269">
              <a:srgbClr val="000000">
                <a:alpha val="2.599999999999999e+279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912864" y="3529584"/>
            <a:ext cx="45720" cy="850392"/>
          </a:xfrm>
          <a:prstGeom prst="rect">
            <a:avLst/>
          </a:prstGeom>
          <a:solidFill>
            <a:srgbClr val="F27D7D"/>
          </a:solidFill>
          <a:ln w="12700">
            <a:solidFill>
              <a:srgbClr val="F27D7D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068312" y="3685032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No silent action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068312" y="4032504"/>
            <a:ext cx="42336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AI compliance publish, safety approval, closure veya Master override yapamaz.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6903720" y="452628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6513612526869638e+234" dist="3.3027225053739275e+234" dir="1.0182016245976934e+274">
              <a:srgbClr val="000000">
                <a:alpha val="2.5999999999999992e+284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6912864" y="4535424"/>
            <a:ext cx="45720" cy="85039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068312" y="4690872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Data boundaries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068312" y="5038344"/>
            <a:ext cx="42336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Tenant isolation, sensitive crew/reporting minimization, provider/transfer controls.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6903720" y="5532120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097228790912444e+238" dist="4.194457581824888e+238" dir="6.10920974758616e+278">
              <a:srgbClr val="000000">
                <a:alpha val="2.599999999999999e+289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912864" y="5541264"/>
            <a:ext cx="45720" cy="548640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068312" y="5696712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Examples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068312" y="6044184"/>
            <a:ext cx="4233672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Repeat steering defect + overdue PMS + near miss + audit finding → systemic risk signal.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&amp; Evidence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truth; evidence provenance ve effective-dated master data üzerine kurulur.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663480564458804e+242" dist="5.326961128917608e+242" dir="3.6655258485516963e+283">
              <a:srgbClr val="000000">
                <a:alpha val="2.599999999999999e+294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94944" y="1609344"/>
            <a:ext cx="45720" cy="16733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0392" y="17647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Master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2112264"/>
            <a:ext cx="322783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Company • Vessel/Tug • Asset • Person • Position • Reference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3.3826203168626813e+246" dist="6.765240633725363e+246" dir="2.1993155091310177e+288">
              <a:srgbClr val="000000">
                <a:alpha val="2.599999999999999e+299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489704" y="1609344"/>
            <a:ext cx="45720" cy="167335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45152" y="17647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Operational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45152" y="2112264"/>
            <a:ext cx="322783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Job • Voyage • Permit • Event • Work Order • Audit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27532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4.295927802415605e+250" dist="8.59185560483121e+250" dir="1.3195893054786106e+293">
              <a:srgbClr val="000000">
                <a:alpha val="2.599999999999999e+304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84464" y="1609344"/>
            <a:ext cx="45720" cy="167335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7647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9912" y="2112264"/>
            <a:ext cx="322783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Source • Requirement • Rule • Control • Certificate • Survey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5.455828309067819e+254" dist="1.0911656618135637e+255" dir="7.917535832871664e+297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94944" y="3666744"/>
            <a:ext cx="45720" cy="167335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0392" y="38221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Evidence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4169664"/>
            <a:ext cx="322783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Document • Photo • Voice • Measurement • Signature • Hash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480560" y="36576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6.928901952516129e+258" dist="1.3857803905032259e+259" dir="4.750521499722998e+302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489704" y="3666744"/>
            <a:ext cx="45720" cy="1673352"/>
          </a:xfrm>
          <a:prstGeom prst="rect">
            <a:avLst/>
          </a:prstGeom>
          <a:solidFill>
            <a:srgbClr val="F27D7D"/>
          </a:solidFill>
          <a:ln w="12700">
            <a:solidFill>
              <a:srgbClr val="F27D7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645152" y="38221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Decision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45152" y="4169664"/>
            <a:ext cx="322783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Verification • Exception • Master/DPA decision • Effectiveness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275320" y="36576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8.799705479695485e+262" dist="1.759941095939097e+263" dir="2.850312899833799e+307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84464" y="3666744"/>
            <a:ext cx="45720" cy="1673352"/>
          </a:xfrm>
          <a:prstGeom prst="rect">
            <a:avLst/>
          </a:prstGeom>
          <a:solidFill>
            <a:srgbClr val="43D1C1"/>
          </a:solidFill>
          <a:ln w="12700">
            <a:solidFill>
              <a:srgbClr val="43D1C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9912" y="38221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39912" y="4169664"/>
            <a:ext cx="322783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Why tree • trends • risk clusters • recommendations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68680" y="5806440"/>
            <a:ext cx="1408176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14400" y="595274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Source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386584" y="5806440"/>
            <a:ext cx="1408176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432304" y="595274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Requirement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904488" y="5806440"/>
            <a:ext cx="1408176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950208" y="595274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Control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22392" y="5806440"/>
            <a:ext cx="1408176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68112" y="595274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Operation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40296" y="5806440"/>
            <a:ext cx="1408176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986016" y="595274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Evidence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458200" y="5806440"/>
            <a:ext cx="1408176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503920" y="595274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Verification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976104" y="5806440"/>
            <a:ext cx="1408176" cy="502920"/>
          </a:xfrm>
          <a:prstGeom prst="roundRect">
            <a:avLst>
              <a:gd name="adj" fmla="val 9091"/>
            </a:avLst>
          </a:prstGeom>
          <a:solidFill>
            <a:srgbClr val="123A48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021824" y="595274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5D69E"/>
                </a:solidFill>
              </a:rPr>
              <a:t>Decision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 / Offline-First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Shipboard ve tugboard-critical desteklenen akışlarda bağlantı kaybı emniyet bilgisini görünmez yapmaz.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636776"/>
            <a:ext cx="5907024" cy="4398264"/>
          </a:xfrm>
          <a:prstGeom prst="roundRect">
            <a:avLst>
              <a:gd name="adj" fmla="val 1247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poseidon_v462_185screens/168_mobile-task-center.jpg">    </p:cNvPr>
          <p:cNvPicPr>
            <a:picLocks noChangeAspect="1"/>
          </p:cNvPicPr>
          <p:nvPr/>
        </p:nvPicPr>
        <p:blipFill>
          <a:blip r:embed="rId1"/>
          <a:srcRect l="7895" r="7895" t="0" b="0"/>
          <a:stretch/>
        </p:blipFill>
        <p:spPr>
          <a:xfrm>
            <a:off x="594360" y="1664208"/>
            <a:ext cx="585216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700784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1175625959213265e+267" dist="2.235125191842653e+267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684264" y="1709928"/>
            <a:ext cx="45720" cy="9418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39712" y="1865376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Client UUID + base version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39712" y="2212848"/>
            <a:ext cx="4370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Offline create/update kayıtları idempotent sync için kendi kimliği ve base version taşır.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6675120" y="281635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4193044968200846e+271" dist="2.8386089936401693e+271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84264" y="2825496"/>
            <a:ext cx="45720" cy="941832"/>
          </a:xfrm>
          <a:prstGeom prst="rect">
            <a:avLst/>
          </a:prstGeom>
          <a:solidFill>
            <a:srgbClr val="F27D7D"/>
          </a:solidFill>
          <a:ln w="12700">
            <a:solidFill>
              <a:srgbClr val="F27D7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839712" y="2980944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Conflict policy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39712" y="3328416"/>
            <a:ext cx="4370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Material conflict silent last-write-wins kullanmaz; human resolution center’a gider.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6675120" y="39319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8025167109615074e+275" dist="3.605033421923015e+275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684264" y="3941064"/>
            <a:ext cx="45720" cy="94183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839712" y="4096512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Evidence capture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39712" y="4443984"/>
            <a:ext cx="4370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Photo/PDF/voice/measurement/QR; source time/device/user/provenance korunur.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675120" y="5047488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2891962229211143e+279" dist="4.578392445842229e+279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684264" y="5056632"/>
            <a:ext cx="45720" cy="94183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839712" y="521208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Critical stale data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39712" y="5559552"/>
            <a:ext cx="437083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Rule/evidence freshness aşılırsa offline istemci false READY üretmez.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Integration Hub 2.0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ERP/HR/Crewing/IoT/Class/RO/AIS gibi sistemlerle adapter + mapping + event + provenance modeli.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6181344" cy="4306824"/>
          </a:xfrm>
          <a:prstGeom prst="roundRect">
            <a:avLst>
              <a:gd name="adj" fmla="val 1274"/>
            </a:avLst>
          </a:prstGeom>
          <a:solidFill>
            <a:srgbClr val="071A28">
              <a:alpha val="0"/>
            </a:srgbClr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poseidon_v462_185screens/164_integration-events.jpg">    </p:cNvPr>
          <p:cNvPicPr>
            <a:picLocks noChangeAspect="1"/>
          </p:cNvPicPr>
          <p:nvPr/>
        </p:nvPicPr>
        <p:blipFill>
          <a:blip r:embed="rId1"/>
          <a:srcRect l="4973" r="4973" t="0" b="0"/>
          <a:stretch/>
        </p:blipFill>
        <p:spPr>
          <a:xfrm>
            <a:off x="594360" y="1691640"/>
            <a:ext cx="612648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737360"/>
            <a:ext cx="4480560" cy="841248"/>
          </a:xfrm>
          <a:prstGeom prst="roundRect">
            <a:avLst>
              <a:gd name="adj" fmla="val 8696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2.9072792031098153e+283" dist="5.8145584062196306e+283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958584" y="1746504"/>
            <a:ext cx="45720" cy="8229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114032" y="1901952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Connectors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14032" y="2249424"/>
            <a:ext cx="4187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REST/SFTP/file/webhook/queue/IoT adapters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6949440" y="2724912"/>
            <a:ext cx="4480560" cy="841248"/>
          </a:xfrm>
          <a:prstGeom prst="roundRect">
            <a:avLst>
              <a:gd name="adj" fmla="val 8696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3.6922445879494656e+287" dist="7.384489175898931e+287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958584" y="2734056"/>
            <a:ext cx="45720" cy="822960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114032" y="2889504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Mapping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14032" y="3236976"/>
            <a:ext cx="4187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Source schema → canonical entity + validation + transformation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6949440" y="3712464"/>
            <a:ext cx="4480560" cy="841248"/>
          </a:xfrm>
          <a:prstGeom prst="roundRect">
            <a:avLst>
              <a:gd name="adj" fmla="val 8696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4.6891506266958215e+291" dist="9.378301253391643e+291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958584" y="3721608"/>
            <a:ext cx="45720" cy="822960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114032" y="3877056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Eventing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14032" y="4224528"/>
            <a:ext cx="4187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Outbox/idempotency/retry/dead-letter/correlation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949440" y="4700016"/>
            <a:ext cx="4480560" cy="841248"/>
          </a:xfrm>
          <a:prstGeom prst="roundRect">
            <a:avLst>
              <a:gd name="adj" fmla="val 8696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5.955221295903693e+295" dist="1.1910442591807386e+296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958584" y="4709160"/>
            <a:ext cx="45720" cy="822960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114032" y="4864608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Source of truth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14032" y="5212080"/>
            <a:ext cx="4187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Her alan için authoritative source + provenance + reconciliation policy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Traceability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“Ekran tasarımı” değil; requirement’tan teste kadar kontrollü delivery contract. v46.3: 196 ekran / 2.316 field contract.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22376" y="174650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FC3F7"/>
                </a:solidFill>
              </a:rPr>
              <a:t>196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2376" y="21031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Screen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22376" y="2304288"/>
            <a:ext cx="1801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Controlled inventory</a:t>
            </a:r>
            <a:endParaRPr lang="en-US" sz="670" dirty="0"/>
          </a:p>
        </p:txBody>
      </p:sp>
      <p:sp>
        <p:nvSpPr>
          <p:cNvPr id="8" name="Shape 6"/>
          <p:cNvSpPr/>
          <p:nvPr/>
        </p:nvSpPr>
        <p:spPr>
          <a:xfrm>
            <a:off x="2743200" y="1600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71216" y="174650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5D69E"/>
                </a:solidFill>
              </a:rPr>
              <a:t>2.316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871216" y="21031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Field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2871216" y="2304288"/>
            <a:ext cx="1801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Validation/role/offline trace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4892040" y="1600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0056" y="174650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C15D"/>
                </a:solidFill>
              </a:rPr>
              <a:t>128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020056" y="21031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Legal Source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5020056" y="2304288"/>
            <a:ext cx="1801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Versioned register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7040880" y="1600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68896" y="174650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99CFF"/>
                </a:solidFill>
              </a:rPr>
              <a:t>13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168896" y="21031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Tug Screen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7168896" y="2304288"/>
            <a:ext cx="1801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First-class mode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9189720" y="1600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17736" y="174650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7D7D"/>
                </a:solidFill>
              </a:rPr>
              <a:t>P0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317736" y="21031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4F8FB"/>
                </a:solidFill>
              </a:rPr>
              <a:t>Golden Tests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9317736" y="2304288"/>
            <a:ext cx="1801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3A9B8"/>
                </a:solidFill>
              </a:rPr>
              <a:t>Critical invariants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594360" y="2944368"/>
            <a:ext cx="1121664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090672"/>
            <a:ext cx="103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Business Need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825752" y="2944368"/>
            <a:ext cx="1121664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871472" y="3090672"/>
            <a:ext cx="103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Requirement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057144" y="2944368"/>
            <a:ext cx="1121664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102864" y="3090672"/>
            <a:ext cx="103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Screen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288536" y="2944368"/>
            <a:ext cx="1121664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334256" y="3090672"/>
            <a:ext cx="103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Field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19928" y="2944368"/>
            <a:ext cx="1121664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565648" y="3090672"/>
            <a:ext cx="103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API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751320" y="2944368"/>
            <a:ext cx="1121664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797040" y="3090672"/>
            <a:ext cx="103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Entity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982712" y="2944368"/>
            <a:ext cx="1121664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028432" y="3090672"/>
            <a:ext cx="103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FR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214104" y="2944368"/>
            <a:ext cx="1121664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259824" y="3090672"/>
            <a:ext cx="103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Test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445496" y="2944368"/>
            <a:ext cx="1121664" cy="502920"/>
          </a:xfrm>
          <a:prstGeom prst="roundRect">
            <a:avLst>
              <a:gd name="adj" fmla="val 9091"/>
            </a:avLst>
          </a:prstGeom>
          <a:solidFill>
            <a:srgbClr val="123A48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491216" y="3090672"/>
            <a:ext cx="103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C3F7"/>
                </a:solidFill>
              </a:rPr>
              <a:t>Evidence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94360" y="37947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7.56313104579769e+299" dist="1.512626209159538e+300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03504" y="3803904"/>
            <a:ext cx="45720" cy="149047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58952" y="395935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Definition of Ready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952" y="4306824"/>
            <a:ext cx="322783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Scope + actor + states + validations + source + API/entity + offline + audit + acceptance.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343400" y="37947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9.605176428163068e+303" dist="1.9210352856326135e+304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352544" y="3803904"/>
            <a:ext cx="45720" cy="1490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507992" y="395935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Definition of Done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07992" y="4306824"/>
            <a:ext cx="322783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Code + tests + evidence trace + security + performance + accessibility + documentation.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8092440" y="37947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1.2198574063767096e+308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8101584" y="3803904"/>
            <a:ext cx="45720" cy="1490472"/>
          </a:xfrm>
          <a:prstGeom prst="rect">
            <a:avLst/>
          </a:prstGeom>
          <a:solidFill>
            <a:srgbClr val="F27D7D"/>
          </a:solidFill>
          <a:ln w="12700">
            <a:solidFill>
              <a:srgbClr val="F27D7D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257032" y="395935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Release Gate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257032" y="4306824"/>
            <a:ext cx="322783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No unresolved P0 safety blocker; regulatory review and pilot evidence captured.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Ticari Paketleme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platform; müşterinin operasyon profiline göre modüler satılabilir yapı.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3504" y="1655064"/>
            <a:ext cx="45720" cy="18105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18105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Core Safety 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2157984"/>
            <a:ext cx="318211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SMS • Safety • Emergency • Events • Controlled Knowledge • Assurance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352544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61688" y="1655064"/>
            <a:ext cx="45720" cy="181051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17136" y="18105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Technical / PMS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17136" y="2157984"/>
            <a:ext cx="318211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Asset • PMS • Defects • Spares • Condition • Drydock • Reliability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110728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19872" y="1655064"/>
            <a:ext cx="45720" cy="181051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75320" y="18105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Crew &amp; Competence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2157984"/>
            <a:ext cx="318211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Roster • assignment • certificate • training • safe manning • work/rest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94360" y="37490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03504" y="3758184"/>
            <a:ext cx="45720" cy="181051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8952" y="39136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Tug Operations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" y="4261104"/>
            <a:ext cx="318211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Job board • assignment • readiness • towage plan/briefing/execution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352544" y="37490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61688" y="3758184"/>
            <a:ext cx="45720" cy="1810512"/>
          </a:xfrm>
          <a:prstGeom prst="rect">
            <a:avLst/>
          </a:prstGeom>
          <a:solidFill>
            <a:srgbClr val="F27D7D"/>
          </a:solidFill>
          <a:ln w="12700">
            <a:solidFill>
              <a:srgbClr val="F27D7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17136" y="39136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Advanced Assurance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17136" y="4261104"/>
            <a:ext cx="318211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PSC/Class/ISM/MLC readiness • evidence packs • management review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110728" y="37490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119872" y="3758184"/>
            <a:ext cx="45720" cy="1810512"/>
          </a:xfrm>
          <a:prstGeom prst="rect">
            <a:avLst/>
          </a:prstGeom>
          <a:solidFill>
            <a:srgbClr val="43D1C1"/>
          </a:solidFill>
          <a:ln w="12700">
            <a:solidFill>
              <a:srgbClr val="43D1C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75320" y="39136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Regulatory Intelligence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4261104"/>
            <a:ext cx="318211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Source governance • applicability • change radar • future sandbox • AI decision support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Kim Satın Alır / Kim Kullanır?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 vericiye risk görünürlüğü; operasyon ekibine doğru günlük iş; audit tarafına kanıt izi.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94944" y="1655064"/>
            <a:ext cx="45720" cy="16733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0392" y="18105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CEO / Fleet Manager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2157984"/>
            <a:ext cx="318211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Fleet pulse • risk • investment priorities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480560" y="16459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489704" y="1655064"/>
            <a:ext cx="45720" cy="167335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45152" y="18105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DPA / HSEQ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45152" y="2157984"/>
            <a:ext cx="318211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ISM • incidents • audit • regulatory change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275320" y="16459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84464" y="1655064"/>
            <a:ext cx="45720" cy="167335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8105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Master / Tug Master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9912" y="2157984"/>
            <a:ext cx="318211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Readiness • authority • today actions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85800" y="374904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94944" y="3758184"/>
            <a:ext cx="45720" cy="167335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0392" y="39136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Technical Superintendent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4261104"/>
            <a:ext cx="318211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PMS • defects • class/survey • spares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480560" y="374904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489704" y="3758184"/>
            <a:ext cx="45720" cy="1673352"/>
          </a:xfrm>
          <a:prstGeom prst="rect">
            <a:avLst/>
          </a:prstGeom>
          <a:solidFill>
            <a:srgbClr val="F27D7D"/>
          </a:solidFill>
          <a:ln w="12700">
            <a:solidFill>
              <a:srgbClr val="F27D7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645152" y="39136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Crewing Manager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45152" y="4261104"/>
            <a:ext cx="318211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eligibility • rotation • training • safe manning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275320" y="374904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84464" y="3758184"/>
            <a:ext cx="45720" cy="1673352"/>
          </a:xfrm>
          <a:prstGeom prst="rect">
            <a:avLst/>
          </a:prstGeom>
          <a:solidFill>
            <a:srgbClr val="43D1C1"/>
          </a:solidFill>
          <a:ln w="12700">
            <a:solidFill>
              <a:srgbClr val="43D1C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9912" y="39136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Auditor / Compliance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39912" y="4261104"/>
            <a:ext cx="318211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requirement → control → evidence trace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8580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Tek veri modeli; role göre farklı günlük yüzey.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Geliştirme Yol Haritası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freeze sonrası yeniden analiz yerine kontrollü delivery.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475488" cy="47548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71907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53312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57276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9B8"/>
                </a:solidFill>
              </a:rPr>
              <a:t>Auth/RBAC • tenant • master data • audit • offline shell • rule/evidence core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923544" y="2075688"/>
            <a:ext cx="0" cy="246888"/>
          </a:xfrm>
          <a:prstGeom prst="line">
            <a:avLst/>
          </a:prstGeom>
          <a:noFill/>
          <a:ln w="254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2350008"/>
            <a:ext cx="475488" cy="475488"/>
          </a:xfrm>
          <a:prstGeom prst="ellipse">
            <a:avLst/>
          </a:prstGeom>
          <a:solidFill>
            <a:srgbClr val="0E3044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468880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53312" y="23225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Ship 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32257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9B8"/>
                </a:solidFill>
              </a:rPr>
              <a:t>Today • crew • PMS • cert • safety • controlled knowledge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23544" y="2825496"/>
            <a:ext cx="0" cy="246888"/>
          </a:xfrm>
          <a:prstGeom prst="line">
            <a:avLst/>
          </a:prstGeom>
          <a:noFill/>
          <a:ln w="254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85800" y="3099816"/>
            <a:ext cx="475488" cy="475488"/>
          </a:xfrm>
          <a:prstGeom prst="ellipse">
            <a:avLst/>
          </a:prstGeom>
          <a:solidFill>
            <a:srgbClr val="0E3044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21868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53312" y="3072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Tug 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07238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9B8"/>
                </a:solidFill>
              </a:rPr>
              <a:t>Job/assignment/readiness/towage execution + crew/equipment rules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23544" y="3575304"/>
            <a:ext cx="0" cy="246888"/>
          </a:xfrm>
          <a:prstGeom prst="line">
            <a:avLst/>
          </a:prstGeom>
          <a:noFill/>
          <a:ln w="254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85800" y="3849624"/>
            <a:ext cx="475488" cy="475488"/>
          </a:xfrm>
          <a:prstGeom prst="ellipse">
            <a:avLst/>
          </a:prstGeom>
          <a:solidFill>
            <a:srgbClr val="0E3044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396849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53312" y="3822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Assurance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382219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9B8"/>
                </a:solidFill>
              </a:rPr>
              <a:t>Audit/PSC/Class/ISM/MLC + evidence packs + management review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23544" y="4325112"/>
            <a:ext cx="0" cy="246888"/>
          </a:xfrm>
          <a:prstGeom prst="line">
            <a:avLst/>
          </a:prstGeom>
          <a:noFill/>
          <a:ln w="254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85800" y="4599432"/>
            <a:ext cx="475488" cy="475488"/>
          </a:xfrm>
          <a:prstGeom prst="ellipse">
            <a:avLst/>
          </a:prstGeom>
          <a:solidFill>
            <a:srgbClr val="0E3044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" y="4718304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53312" y="4572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5720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9B8"/>
                </a:solidFill>
              </a:rPr>
              <a:t>Why • change radar • risk clusters • AI decision support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23544" y="5074920"/>
            <a:ext cx="0" cy="246888"/>
          </a:xfrm>
          <a:prstGeom prst="line">
            <a:avLst/>
          </a:prstGeom>
          <a:noFill/>
          <a:ln w="254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5800" y="5349240"/>
            <a:ext cx="475488" cy="475488"/>
          </a:xfrm>
          <a:prstGeom prst="ellipse">
            <a:avLst/>
          </a:prstGeom>
          <a:solidFill>
            <a:srgbClr val="0E3044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5800" y="546811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8FB"/>
                </a:solidFill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353312" y="53218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Pilot → Release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532180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9B8"/>
                </a:solidFill>
              </a:rPr>
              <a:t>1 ship + 1 tug / mixed fleet • UAT • legal/class sign-off • release gates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Pilot, UAT ve Release Gate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ship demo yeterli değil: Gemi + Römorkör dual-mode gerçek veriyle doğrulanacak.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6420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3504" y="1673352"/>
            <a:ext cx="45720" cy="18105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182880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Pilot Minimum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2176272"/>
            <a:ext cx="318211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≥1 gerçek gemi journey + ≥1 gerçek römorkör/towage journey veya gerçek mixed-fleet operator.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352544" y="166420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61688" y="1673352"/>
            <a:ext cx="45720" cy="181051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17136" y="182880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Evidence 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17136" y="2176272"/>
            <a:ext cx="318211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Certificates • MSMD • crew • class • assets/PMS • SMS/plans • defects • BP/winch/ERS.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110728" y="166420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19872" y="1673352"/>
            <a:ext cx="45720" cy="1810512"/>
          </a:xfrm>
          <a:prstGeom prst="rect">
            <a:avLst/>
          </a:prstGeom>
          <a:solidFill>
            <a:srgbClr val="F27D7D"/>
          </a:solidFill>
          <a:ln w="12700">
            <a:solidFill>
              <a:srgbClr val="F27D7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75320" y="182880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P0 Gates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2176272"/>
            <a:ext cx="318211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Master authority • false-green prevention • offline conflicts • regulatory applicability • critical PMS/evidence.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94360" y="37947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03504" y="3803904"/>
            <a:ext cx="45720" cy="1536192"/>
          </a:xfrm>
          <a:prstGeom prst="rect">
            <a:avLst/>
          </a:prstGeom>
          <a:solidFill>
            <a:srgbClr val="F8C15D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8952" y="39593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UAT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" y="4306824"/>
            <a:ext cx="318211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Role-based journeys; exception-first UX; performance/accessibility/security; mobile/offline.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352544" y="37947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61688" y="3803904"/>
            <a:ext cx="45720" cy="153619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17136" y="39593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Legal / Class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17136" y="4306824"/>
            <a:ext cx="318211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Actual vessel+tug applicability reviewed by flag/class/SME/legal owner.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110728" y="37947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119872" y="3803904"/>
            <a:ext cx="45720" cy="1536192"/>
          </a:xfrm>
          <a:prstGeom prst="rect">
            <a:avLst/>
          </a:prstGeom>
          <a:solidFill>
            <a:srgbClr val="43D1C1"/>
          </a:solidFill>
          <a:ln w="12700">
            <a:solidFill>
              <a:srgbClr val="43D1C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75320" y="39593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Release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4306824"/>
            <a:ext cx="318211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No unresolved P0; controlled source versions frozen; audit pack and rollback ready.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Candidate: Eksikler Nasıl Kapatılıyor?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Rakip benchmark delta’sı Master Spec, PRD/SRS, prototype, traceability, backlog ve test setine işlendi; v46.3 artık kontrollü aday baseline’dır.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4F8FB"/>
                </a:solidFill>
              </a:rPr>
              <a:t>Final PPT</a:t>
            </a:r>
            <a:endParaRPr lang="en-US" sz="930" dirty="0"/>
          </a:p>
        </p:txBody>
      </p:sp>
      <p:sp>
        <p:nvSpPr>
          <p:cNvPr id="5" name="Text 3"/>
          <p:cNvSpPr/>
          <p:nvPr/>
        </p:nvSpPr>
        <p:spPr>
          <a:xfrm>
            <a:off x="3749040" y="15727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9B8"/>
                </a:solidFill>
              </a:rPr>
              <a:t>BU DOSYA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646920" y="1545336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720072" y="1609344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5D69E"/>
                </a:solidFill>
              </a:rPr>
              <a:t>CLOSED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40080" y="1883664"/>
            <a:ext cx="10515600" cy="0"/>
          </a:xfrm>
          <a:prstGeom prst="line">
            <a:avLst/>
          </a:prstGeom>
          <a:noFill/>
          <a:ln w="762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1396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4F8FB"/>
                </a:solidFill>
              </a:rPr>
              <a:t>Product-wide ERD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3749040" y="21396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9B8"/>
                </a:solidFill>
              </a:rPr>
              <a:t>Yeni doküman + ERD diagram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646920" y="2112264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720072" y="2176272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5D69E"/>
                </a:solidFill>
              </a:rPr>
              <a:t>CLOSED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40080" y="2450592"/>
            <a:ext cx="10515600" cy="0"/>
          </a:xfrm>
          <a:prstGeom prst="line">
            <a:avLst/>
          </a:prstGeom>
          <a:noFill/>
          <a:ln w="762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7066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4F8FB"/>
                </a:solidFill>
              </a:rPr>
              <a:t>API / Integration Spec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3749040" y="27066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9B8"/>
                </a:solidFill>
              </a:rPr>
              <a:t>Yeni docx + OpenAPI/catalog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46920" y="2679192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720072" y="2743200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5D69E"/>
                </a:solidFill>
              </a:rPr>
              <a:t>CLOSED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0515600" cy="0"/>
          </a:xfrm>
          <a:prstGeom prst="line">
            <a:avLst/>
          </a:prstGeom>
          <a:noFill/>
          <a:ln w="762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2735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4F8FB"/>
                </a:solidFill>
              </a:rPr>
              <a:t>196 ekran görselli katalog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3749040" y="32735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9B8"/>
                </a:solidFill>
              </a:rPr>
              <a:t>Yeni 196 screenshot manual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46920" y="324612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720072" y="3310128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5D69E"/>
                </a:solidFill>
              </a:rPr>
              <a:t>CLOSED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40080" y="3584448"/>
            <a:ext cx="10515600" cy="0"/>
          </a:xfrm>
          <a:prstGeom prst="line">
            <a:avLst/>
          </a:prstGeom>
          <a:noFill/>
          <a:ln w="762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8404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4F8FB"/>
                </a:solidFill>
              </a:rPr>
              <a:t>AI Governance + Data Strategy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3749040" y="38404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9B8"/>
                </a:solidFill>
              </a:rPr>
              <a:t>Yeni controlled policy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646920" y="3813048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720072" y="3877056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5D69E"/>
                </a:solidFill>
              </a:rPr>
              <a:t>CLOSED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40080" y="4151376"/>
            <a:ext cx="10515600" cy="0"/>
          </a:xfrm>
          <a:prstGeom prst="line">
            <a:avLst/>
          </a:prstGeom>
          <a:noFill/>
          <a:ln w="762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44074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4F8FB"/>
                </a:solidFill>
              </a:rPr>
              <a:t>External legal/class sign-off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3749040" y="44074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9B8"/>
                </a:solidFill>
              </a:rPr>
              <a:t>Template + checklist hazır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646920" y="4379976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F8C15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720072" y="4443984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8C15D"/>
                </a:solidFill>
              </a:rPr>
              <a:t>EXTERNAL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640080" y="4718304"/>
            <a:ext cx="10515600" cy="0"/>
          </a:xfrm>
          <a:prstGeom prst="line">
            <a:avLst/>
          </a:prstGeom>
          <a:noFill/>
          <a:ln w="762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" y="49743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4F8FB"/>
                </a:solidFill>
              </a:rPr>
              <a:t>Real pilot data reconciliation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3749040" y="49743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9B8"/>
                </a:solidFill>
              </a:rPr>
              <a:t>Workbook/template hazır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646920" y="4946904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720072" y="5010912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99CFF"/>
                </a:solidFill>
              </a:rPr>
              <a:t>CUSTOMER DATA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640080" y="5285232"/>
            <a:ext cx="10515600" cy="0"/>
          </a:xfrm>
          <a:prstGeom prst="line">
            <a:avLst/>
          </a:prstGeom>
          <a:noFill/>
          <a:ln w="762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0080" y="55412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4F8FB"/>
                </a:solidFill>
              </a:rPr>
              <a:t>CI build / live DB gate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3749040" y="55412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9B8"/>
                </a:solidFill>
              </a:rPr>
              <a:t>Checklist/scripts hazır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646920" y="5513832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B2637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720072" y="5577840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99CFF"/>
                </a:solidFill>
              </a:rPr>
              <a:t>ENGINEERING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515600" cy="0"/>
          </a:xfrm>
          <a:prstGeom prst="line">
            <a:avLst/>
          </a:prstGeom>
          <a:noFill/>
          <a:ln w="762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Karar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v46.3 controlled candidate onaya hazır. PO/Marine SME/Regulatory/Engineering/QA sign-off sonrası geliştirme baseline’ı olarak dondurulur.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57276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5D69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Geliştirmeye geç.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323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</a:rPr>
              <a:t>Tek Platform • İki Mod • Tek Kaynak İzi • İnsan Otoritesi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26415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3438144"/>
            <a:ext cx="11727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Requirement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13966" y="3291840"/>
            <a:ext cx="126415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059686" y="3438144"/>
            <a:ext cx="11727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Applicability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387852" y="3291840"/>
            <a:ext cx="126415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33572" y="3438144"/>
            <a:ext cx="11727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Control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61738" y="3291840"/>
            <a:ext cx="126415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07458" y="3438144"/>
            <a:ext cx="11727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Operation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35624" y="3291840"/>
            <a:ext cx="126415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81344" y="3438144"/>
            <a:ext cx="11727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Evidence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509510" y="3291840"/>
            <a:ext cx="126415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555230" y="3438144"/>
            <a:ext cx="11727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Verification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83396" y="3291840"/>
            <a:ext cx="1264158" cy="502920"/>
          </a:xfrm>
          <a:prstGeom prst="roundRect">
            <a:avLst>
              <a:gd name="adj" fmla="val 9091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29116" y="3438144"/>
            <a:ext cx="11727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8FB"/>
                </a:solidFill>
              </a:rPr>
              <a:t>Human Decision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257282" y="3291840"/>
            <a:ext cx="1264158" cy="502920"/>
          </a:xfrm>
          <a:prstGeom prst="roundRect">
            <a:avLst>
              <a:gd name="adj" fmla="val 9091"/>
            </a:avLst>
          </a:prstGeom>
          <a:solidFill>
            <a:srgbClr val="123A48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303002" y="3438144"/>
            <a:ext cx="11727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C3F7"/>
                </a:solidFill>
              </a:rPr>
              <a:t>Learning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005840" y="425196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14984" y="4261104"/>
            <a:ext cx="45720" cy="1216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70432" y="441655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GEMİ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70432" y="4764024"/>
            <a:ext cx="272491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Safety + Crew + Technical + Assurance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572000" y="425196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581144" y="4261104"/>
            <a:ext cx="45720" cy="1216152"/>
          </a:xfrm>
          <a:prstGeom prst="rect">
            <a:avLst/>
          </a:prstGeom>
          <a:solidFill>
            <a:srgbClr val="B99CFF"/>
          </a:solidFill>
          <a:ln w="12700">
            <a:solidFill>
              <a:srgbClr val="B99C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736592" y="441655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RÖMORKÖR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4764024"/>
            <a:ext cx="272491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Job + Assignment + Readiness + Towage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138160" y="425196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0B2536"/>
          </a:solidFill>
          <a:ln w="12700">
            <a:solidFill>
              <a:srgbClr val="153E5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147304" y="4261104"/>
            <a:ext cx="45720" cy="1216152"/>
          </a:xfrm>
          <a:prstGeom prst="rect">
            <a:avLst/>
          </a:prstGeom>
          <a:solidFill>
            <a:srgbClr val="55D69E"/>
          </a:solidFill>
          <a:ln w="12700">
            <a:solidFill>
              <a:srgbClr val="55D69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302752" y="441655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B"/>
                </a:solidFill>
              </a:rPr>
              <a:t>ORTAK ÇEKİRDEK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02752" y="4764024"/>
            <a:ext cx="272491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3A9B8"/>
                </a:solidFill>
              </a:rPr>
              <a:t>Regulatory + Evidence + Decision + Learning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731520" y="58978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POSEIDON v46.3 — Controlled Candidate Candidate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479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6FAFC"/>
                </a:solidFill>
              </a:defRPr>
            </a:pPr>
            <a:r>
              <a:t>NOZZLE Benchmark → Ürün Kararı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C2CF"/>
                </a:solidFill>
              </a:defRPr>
            </a:pPr>
            <a:r>
              <a:t>Rakibi kopyalamak yerine doğru boşlukları kapatıp farklılaştırıcı çekirdeği büyütüyoruz.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1051560" cy="45720"/>
          </a:xfrm>
          <a:prstGeom prst="rect">
            <a:avLst/>
          </a:prstGeom>
          <a:solidFill>
            <a:srgbClr val="2F7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383280" cy="182880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56232"/>
            <a:ext cx="2980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4B4B"/>
                </a:solidFill>
              </a:defRPr>
            </a:pPr>
            <a:r>
              <a:t>AL</a:t>
            </a:r>
          </a:p>
          <a:p>
            <a:pPr>
              <a:spcBef>
                <a:spcPts val="500"/>
              </a:spcBef>
              <a:defRPr sz="2200" b="1">
                <a:solidFill>
                  <a:srgbClr val="F6FAFC"/>
                </a:solidFill>
              </a:defRPr>
            </a:pPr>
            <a:r>
              <a:t>NOZZLE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Rakip güçlü: Ship Operations, PMS/Survey, mobile execution, ERP breadth.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91640"/>
            <a:ext cx="3383280" cy="182880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1856232"/>
            <a:ext cx="2980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2A57D"/>
                </a:solidFill>
              </a:defRPr>
            </a:pPr>
            <a:r>
              <a:t>KORU</a:t>
            </a:r>
          </a:p>
          <a:p>
            <a:pPr>
              <a:spcBef>
                <a:spcPts val="500"/>
              </a:spcBef>
              <a:defRPr sz="2200" b="1">
                <a:solidFill>
                  <a:srgbClr val="F6FAFC"/>
                </a:solidFill>
              </a:defRPr>
            </a:pPr>
            <a:r>
              <a:t>POSEIDON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Tug lifecycle + Applicability + Readiness/Why + Evidence/Human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91640"/>
            <a:ext cx="3383280" cy="182880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856232"/>
            <a:ext cx="2980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39737"/>
                </a:solidFill>
              </a:defRPr>
            </a:pPr>
            <a:r>
              <a:t>SINIR</a:t>
            </a:r>
          </a:p>
          <a:p>
            <a:pPr>
              <a:spcBef>
                <a:spcPts val="500"/>
              </a:spcBef>
              <a:defRPr sz="2200" b="1">
                <a:solidFill>
                  <a:srgbClr val="F6FAFC"/>
                </a:solidFill>
              </a:defRPr>
            </a:pPr>
            <a:r>
              <a:t>OUT / INTEGRATE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Finance, payroll, full procurement, warehouse, chartering ve Port OS build edilmiyor.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5212080" cy="155448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005072"/>
            <a:ext cx="48097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7AA1"/>
                </a:solidFill>
              </a:defRPr>
            </a:pPr>
            <a:r>
              <a:t>v46.3 Delta</a:t>
            </a:r>
          </a:p>
          <a:p>
            <a:pPr>
              <a:spcBef>
                <a:spcPts val="500"/>
              </a:spcBef>
              <a:defRPr sz="2200" b="1">
                <a:solidFill>
                  <a:srgbClr val="F6FAFC"/>
                </a:solidFill>
              </a:defRPr>
            </a:pPr>
            <a:r>
              <a:t>+11 ekran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Noon, Deck/Engine Daily Logs, Fuel/BDN/ROB, SOF, Downtime; Service Report, Pre-Survey, Risk Templates/High-Risk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212080" cy="155448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4005072"/>
            <a:ext cx="48097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2A57D"/>
                </a:solidFill>
              </a:defRPr>
            </a:pPr>
            <a:r>
              <a:t>Controlled Inventory</a:t>
            </a:r>
          </a:p>
          <a:p>
            <a:pPr>
              <a:spcBef>
                <a:spcPts val="500"/>
              </a:spcBef>
              <a:defRPr sz="2200" b="1">
                <a:solidFill>
                  <a:srgbClr val="F6FAFC"/>
                </a:solidFill>
              </a:defRPr>
            </a:pPr>
            <a:r>
              <a:t>196 ekran • 2.316 alan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Rakip analizi sonucunda yeni business capability’ler trace, field, API ve test contract’ına işlendi.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73952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AAC2CF"/>
                </a:solidFill>
              </a:defRPr>
            </a:pPr>
            <a:r>
              <a:t>POSEIDON v46.3 •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6FAFC"/>
                </a:solidFill>
              </a:defRPr>
            </a:pPr>
            <a:r>
              <a:t>Ship Operations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C2CF"/>
                </a:solidFill>
              </a:defRPr>
            </a:pPr>
            <a:r>
              <a:t>NOZZLE’dan alınan en önemli ders: günlük veriyi tek kez gir, voyage/technical/compliance/readiness boyunca yeniden kullan.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1051560" cy="45720"/>
          </a:xfrm>
          <a:prstGeom prst="rect">
            <a:avLst/>
          </a:prstGeom>
          <a:solidFill>
            <a:srgbClr val="2F7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29000" cy="150876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01952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7AA1"/>
                </a:solidFill>
              </a:defRPr>
            </a:pPr>
            <a:r>
              <a:t>Noon Report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Position • activity • weather • speed • fuel/ROB • Master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29000" cy="150876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901952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7AA1"/>
                </a:solidFill>
              </a:defRPr>
            </a:pPr>
            <a:r>
              <a:t>Deck Daily Log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Watch • nav • pilot/tug • port/cargo • handover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737360"/>
            <a:ext cx="3429000" cy="150876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901952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7AA1"/>
                </a:solidFill>
              </a:defRPr>
            </a:pPr>
            <a:r>
              <a:t>Engine Daily Log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Hours • fuel/lube • measurements • alarms • defects/WO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11879"/>
            <a:ext cx="3429000" cy="150876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776472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7AA1"/>
                </a:solidFill>
              </a:defRPr>
            </a:pPr>
            <a:r>
              <a:t>Fuel / Bunker / BDN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Consumption • delivery/transfer • ROB • sulphur •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611879"/>
            <a:ext cx="3429000" cy="150876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3776472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7AA1"/>
                </a:solidFill>
              </a:defRPr>
            </a:pPr>
            <a:r>
              <a:t>Port Activity / SOF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Timestamp timeline • delays • cargo • Letter of Protest — Port OS değil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3611879"/>
            <a:ext cx="3429000" cy="150876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3776472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7AA1"/>
                </a:solidFill>
              </a:defRPr>
            </a:pPr>
            <a:r>
              <a:t>Operational Downtime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Cause • defect/WO/event • impact • Loss-of-Hire candidate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73952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AAC2CF"/>
                </a:solidFill>
              </a:defRPr>
            </a:pPr>
            <a:r>
              <a:t>POSEIDON v46.3 •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6FAFC"/>
                </a:solidFill>
              </a:defRPr>
            </a:pPr>
            <a:r>
              <a:t>Neyi Kopyalamıyoruz? Neyi Daha Derin Yapıyoruz?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C2CF"/>
                </a:solidFill>
              </a:defRPr>
            </a:pPr>
            <a:r>
              <a:t>Ürün odağı: maritime ERP breadth değil, güvenli operasyon karar derinliği.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1051560" cy="45720"/>
          </a:xfrm>
          <a:prstGeom prst="rect">
            <a:avLst/>
          </a:prstGeom>
          <a:solidFill>
            <a:srgbClr val="2F7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212080" cy="342900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01952"/>
            <a:ext cx="48097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4B4B"/>
                </a:solidFill>
              </a:defRPr>
            </a:pPr>
            <a:r>
              <a:t>BİLİNÇLİ KAPSAM DIŞI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• Full finance / AP-AR / budget / FX</a:t>
            </a:r>
            <a:br/>
            <a:r>
              <a:t>• Crew payroll / expenses</a:t>
            </a:r>
            <a:br/>
            <a:r>
              <a:t>• Full RFQ / PO / supplier lifecycle</a:t>
            </a:r>
            <a:br/>
            <a:r>
              <a:t>• Enterprise warehouse</a:t>
            </a:r>
            <a:br/>
            <a:r>
              <a:t>• Full chartering</a:t>
            </a:r>
            <a:br/>
            <a:r>
              <a:t>• Port / terminal / berth / VTS management</a:t>
            </a:r>
            <a:br/>
            <a:br/>
            <a:r>
              <a:t>Müşteride varsa adapter/connector ile entegre edilir.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37360"/>
            <a:ext cx="5212080" cy="342900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7" y="1901952"/>
            <a:ext cx="48097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2A57D"/>
                </a:solidFill>
              </a:defRPr>
            </a:pPr>
            <a:r>
              <a:t>ANA WEDGE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• Dedicated Tug Operations</a:t>
            </a:r>
            <a:br/>
            <a:r>
              <a:t>• Dynamic Applicability</a:t>
            </a:r>
            <a:br/>
            <a:r>
              <a:t>• UNKNOWN → REVIEW_REQUIRED</a:t>
            </a:r>
            <a:br/>
            <a:r>
              <a:t>• Readiness + Why tree</a:t>
            </a:r>
            <a:br/>
            <a:r>
              <a:t>• Barrier health + effectiveness</a:t>
            </a:r>
            <a:br/>
            <a:r>
              <a:t>• Evidence → Verification → Human Decision</a:t>
            </a:r>
            <a:br/>
            <a:r>
              <a:t>• Offline durable queue + conflict center</a:t>
            </a:r>
            <a:br/>
            <a:r>
              <a:t>• Human-gated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73952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AAC2CF"/>
                </a:solidFill>
              </a:defRPr>
            </a:pPr>
            <a:r>
              <a:t>POSEIDON v46.3 •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6FAFC"/>
                </a:solidFill>
              </a:defRPr>
            </a:pPr>
            <a:r>
              <a:t>v46.3 Controlled Candidate — Go / No-Go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C2CF"/>
                </a:solidFill>
              </a:defRPr>
            </a:pPr>
            <a:r>
              <a:t>Bu sürüm “rakipte var” diye değil, business value + traceability + safety authority doğrulandığında freeze edilir.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1051560" cy="45720"/>
          </a:xfrm>
          <a:prstGeom prst="rect">
            <a:avLst/>
          </a:prstGeom>
          <a:solidFill>
            <a:srgbClr val="2F7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182880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01952"/>
            <a:ext cx="293522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2A57D"/>
                </a:solidFill>
              </a:defRPr>
            </a:pPr>
            <a:r>
              <a:t>PRODUCT / BA</a:t>
            </a:r>
          </a:p>
          <a:p>
            <a:pPr>
              <a:spcBef>
                <a:spcPts val="500"/>
              </a:spcBef>
              <a:defRPr sz="2200" b="1">
                <a:solidFill>
                  <a:srgbClr val="F6FAFC"/>
                </a:solidFill>
              </a:defRPr>
            </a:pPr>
            <a:r>
              <a:t>PASS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196 ekran / 2.316 alan; scope boundary ve requirement trace orphan P0 =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337560" cy="182880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7" y="1901952"/>
            <a:ext cx="293522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7AA1"/>
                </a:solidFill>
              </a:defRPr>
            </a:pPr>
            <a:r>
              <a:t>ENGINEERING / QA</a:t>
            </a:r>
          </a:p>
          <a:p>
            <a:pPr>
              <a:spcBef>
                <a:spcPts val="500"/>
              </a:spcBef>
              <a:defRPr sz="2200" b="1">
                <a:solidFill>
                  <a:srgbClr val="F6FAFC"/>
                </a:solidFill>
              </a:defRPr>
            </a:pPr>
            <a:r>
              <a:t>PASS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New Ship Ops + PMS/Risk delta E2E; Tug ve Applicability non-regression; offline conflicts explicit.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337560" cy="182880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293522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39737"/>
                </a:solidFill>
              </a:defRPr>
            </a:pPr>
            <a:r>
              <a:t>MARINE / REGULATORY</a:t>
            </a:r>
          </a:p>
          <a:p>
            <a:pPr>
              <a:spcBef>
                <a:spcPts val="500"/>
              </a:spcBef>
              <a:defRPr sz="2200" b="1">
                <a:solidFill>
                  <a:srgbClr val="F6FAFC"/>
                </a:solidFill>
              </a:defRPr>
            </a:pPr>
            <a:r>
              <a:t>SIGN-OFF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No false-green; real ship+tug UAT; external flag/class/legal gates where applicable.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069080"/>
            <a:ext cx="8503920" cy="1417320"/>
          </a:xfrm>
          <a:prstGeom prst="roundRect">
            <a:avLst/>
          </a:prstGeom>
          <a:solidFill>
            <a:srgbClr val="0C2737"/>
          </a:solidFill>
          <a:ln>
            <a:solidFill>
              <a:srgbClr val="23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4233672"/>
            <a:ext cx="81015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2A57D"/>
                </a:solidFill>
              </a:defRPr>
            </a:pPr>
            <a:r>
              <a:t>Final karar</a:t>
            </a:r>
          </a:p>
          <a:p>
            <a:pPr>
              <a:spcBef>
                <a:spcPts val="500"/>
              </a:spcBef>
              <a:defRPr sz="2200" b="1">
                <a:solidFill>
                  <a:srgbClr val="F6FAFC"/>
                </a:solidFill>
              </a:defRPr>
            </a:pPr>
            <a:r>
              <a:t>DEVELOPMENT GO</a:t>
            </a:r>
          </a:p>
          <a:p>
            <a:pPr>
              <a:spcBef>
                <a:spcPts val="600"/>
              </a:spcBef>
              <a:defRPr sz="900">
                <a:solidFill>
                  <a:srgbClr val="F6FAFC"/>
                </a:solidFill>
              </a:defRPr>
            </a:pPr>
            <a:r>
              <a:t>Sign-off sonrası v46.3 geliştirme baseline’ı olur. Sonrasında her değişiklik Change Control / MOC ile Requirement → Screen → Field → API → Entity → FR → Test zincirine işlenir.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73952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AAC2CF"/>
                </a:solidFill>
              </a:defRPr>
            </a:pPr>
            <a:r>
              <a:t>POSEIDON v46.3 •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POSEIDON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POSEIDON v46.2 — Yönetim, Satış ve Teknik Sunum</dc:title>
  <dc:subject>POSEIDON v46.2 Gemi + Römorkör Final Development Freeze</dc:subject>
  <dc:creator>OpenAI</dc:creator>
  <cp:lastModifiedBy>OpenAI</cp:lastModifiedBy>
  <cp:revision>1</cp:revision>
  <dcterms:created xsi:type="dcterms:W3CDTF">2026-10-04T21:46:39Z</dcterms:created>
  <dcterms:modified xsi:type="dcterms:W3CDTF">2026-10-04T21:46:39Z</dcterms:modified>
</cp:coreProperties>
</file>